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83" r:id="rId1"/>
  </p:sldMasterIdLst>
  <p:notesMasterIdLst>
    <p:notesMasterId r:id="rId45"/>
  </p:notesMasterIdLst>
  <p:sldIdLst>
    <p:sldId id="271" r:id="rId2"/>
    <p:sldId id="261" r:id="rId3"/>
    <p:sldId id="262" r:id="rId4"/>
    <p:sldId id="272" r:id="rId5"/>
    <p:sldId id="319" r:id="rId6"/>
    <p:sldId id="327" r:id="rId7"/>
    <p:sldId id="329" r:id="rId8"/>
    <p:sldId id="330" r:id="rId9"/>
    <p:sldId id="331" r:id="rId10"/>
    <p:sldId id="332" r:id="rId11"/>
    <p:sldId id="333" r:id="rId12"/>
    <p:sldId id="334" r:id="rId13"/>
    <p:sldId id="335" r:id="rId14"/>
    <p:sldId id="355" r:id="rId15"/>
    <p:sldId id="357" r:id="rId16"/>
    <p:sldId id="336" r:id="rId17"/>
    <p:sldId id="338" r:id="rId18"/>
    <p:sldId id="339" r:id="rId19"/>
    <p:sldId id="340" r:id="rId20"/>
    <p:sldId id="360" r:id="rId21"/>
    <p:sldId id="361" r:id="rId22"/>
    <p:sldId id="341" r:id="rId23"/>
    <p:sldId id="328" r:id="rId24"/>
    <p:sldId id="347" r:id="rId25"/>
    <p:sldId id="350" r:id="rId26"/>
    <p:sldId id="358" r:id="rId27"/>
    <p:sldId id="359" r:id="rId28"/>
    <p:sldId id="348" r:id="rId29"/>
    <p:sldId id="351" r:id="rId30"/>
    <p:sldId id="352" r:id="rId31"/>
    <p:sldId id="353" r:id="rId32"/>
    <p:sldId id="362" r:id="rId33"/>
    <p:sldId id="364" r:id="rId34"/>
    <p:sldId id="363" r:id="rId35"/>
    <p:sldId id="365" r:id="rId36"/>
    <p:sldId id="366" r:id="rId37"/>
    <p:sldId id="367" r:id="rId38"/>
    <p:sldId id="368" r:id="rId39"/>
    <p:sldId id="369" r:id="rId40"/>
    <p:sldId id="370" r:id="rId41"/>
    <p:sldId id="371" r:id="rId42"/>
    <p:sldId id="354" r:id="rId43"/>
    <p:sldId id="356"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FE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43" autoAdjust="0"/>
    <p:restoredTop sz="94660"/>
  </p:normalViewPr>
  <p:slideViewPr>
    <p:cSldViewPr>
      <p:cViewPr varScale="1">
        <p:scale>
          <a:sx n="70" d="100"/>
          <a:sy n="70" d="100"/>
        </p:scale>
        <p:origin x="1338"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8A6DF-B03D-4A8B-B99B-8BF580CEDBFA}" type="datetimeFigureOut">
              <a:rPr lang="en-US" smtClean="0"/>
              <a:t>10/11/2024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E6883B-C890-41C6-B9D1-1BE98D4A5A60}" type="slidenum">
              <a:rPr lang="en-US" smtClean="0"/>
              <a:t>‹#›</a:t>
            </a:fld>
            <a:endParaRPr lang="en-US"/>
          </a:p>
        </p:txBody>
      </p:sp>
    </p:spTree>
    <p:extLst>
      <p:ext uri="{BB962C8B-B14F-4D97-AF65-F5344CB8AC3E}">
        <p14:creationId xmlns:p14="http://schemas.microsoft.com/office/powerpoint/2010/main" val="4195618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3E6883B-C890-41C6-B9D1-1BE98D4A5A60}" type="slidenum">
              <a:rPr lang="en-US" smtClean="0"/>
              <a:t>14</a:t>
            </a:fld>
            <a:endParaRPr lang="en-US"/>
          </a:p>
        </p:txBody>
      </p:sp>
    </p:spTree>
    <p:extLst>
      <p:ext uri="{BB962C8B-B14F-4D97-AF65-F5344CB8AC3E}">
        <p14:creationId xmlns:p14="http://schemas.microsoft.com/office/powerpoint/2010/main" val="27559500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9144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80902" y="1275025"/>
            <a:ext cx="7182197"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088136" y="1385316"/>
            <a:ext cx="6967728" cy="4087368"/>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3794760" y="1267730"/>
            <a:ext cx="1554480" cy="6400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3886200" y="1267731"/>
            <a:ext cx="1371600" cy="548640"/>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71281" y="2091263"/>
            <a:ext cx="6801440" cy="2590800"/>
          </a:xfrm>
        </p:spPr>
        <p:txBody>
          <a:bodyPr tIns="45720" bIns="45720" anchor="ctr">
            <a:noAutofit/>
          </a:bodyPr>
          <a:lstStyle>
            <a:lvl1pPr algn="ctr">
              <a:lnSpc>
                <a:spcPct val="83000"/>
              </a:lnSpc>
              <a:defRPr lang="en-US" sz="6200" b="0" kern="1200" cap="all" spc="-100" baseline="0" dirty="0">
                <a:solidFill>
                  <a:schemeClr val="tx1">
                    <a:lumMod val="85000"/>
                    <a:lumOff val="15000"/>
                  </a:schemeClr>
                </a:solidFill>
                <a:effectLst/>
                <a:latin typeface="+mj-lt"/>
                <a:ea typeface="+mn-ea"/>
                <a:cs typeface="+mn-cs"/>
              </a:defRPr>
            </a:lvl1pPr>
          </a:lstStyle>
          <a:p>
            <a:r>
              <a:rPr lang="en-US" smtClean="0"/>
              <a:t>Click to edit Master title style</a:t>
            </a:r>
            <a:endParaRPr lang="en-US" dirty="0"/>
          </a:p>
        </p:txBody>
      </p:sp>
      <p:sp>
        <p:nvSpPr>
          <p:cNvPr id="3" name="Subtitle 2"/>
          <p:cNvSpPr>
            <a:spLocks noGrp="1"/>
          </p:cNvSpPr>
          <p:nvPr>
            <p:ph type="subTitle" idx="1"/>
          </p:nvPr>
        </p:nvSpPr>
        <p:spPr>
          <a:xfrm>
            <a:off x="1171575" y="4682062"/>
            <a:ext cx="6803136" cy="502920"/>
          </a:xfrm>
        </p:spPr>
        <p:txBody>
          <a:bodyPr>
            <a:normAutofit/>
          </a:bodyPr>
          <a:lstStyle>
            <a:lvl1pPr marL="0" indent="0" algn="ctr">
              <a:spcBef>
                <a:spcPts val="0"/>
              </a:spcBef>
              <a:buNone/>
              <a:defRPr sz="1400" spc="80" baseline="0">
                <a:solidFill>
                  <a:schemeClr val="tx1"/>
                </a:solidFill>
              </a:defRPr>
            </a:lvl1pPr>
            <a:lvl2pPr marL="457200" indent="0" algn="ctr">
              <a:buNone/>
              <a:defRPr sz="1400"/>
            </a:lvl2pPr>
            <a:lvl3pPr marL="914400" indent="0" algn="ctr">
              <a:buNone/>
              <a:defRPr sz="1400"/>
            </a:lvl3pPr>
            <a:lvl4pPr marL="1371600" indent="0" algn="ctr">
              <a:buNone/>
              <a:defRPr sz="1400"/>
            </a:lvl4pPr>
            <a:lvl5pPr marL="1828800" indent="0" algn="ctr">
              <a:buNone/>
              <a:defRPr sz="1400"/>
            </a:lvl5pPr>
            <a:lvl6pPr marL="2286000" indent="0" algn="ctr">
              <a:buNone/>
              <a:defRPr sz="1400"/>
            </a:lvl6pPr>
            <a:lvl7pPr marL="2743200" indent="0" algn="ctr">
              <a:buNone/>
              <a:defRPr sz="1400"/>
            </a:lvl7pPr>
            <a:lvl8pPr marL="3200400" indent="0" algn="ctr">
              <a:buNone/>
              <a:defRPr sz="1400"/>
            </a:lvl8pPr>
            <a:lvl9pPr marL="3657600" indent="0" algn="ctr">
              <a:buNone/>
              <a:defRPr sz="1400"/>
            </a:lvl9pPr>
          </a:lstStyle>
          <a:p>
            <a:r>
              <a:rPr lang="en-US" smtClean="0"/>
              <a:t>Click to edit Master subtitle style</a:t>
            </a:r>
            <a:endParaRPr lang="en-US" dirty="0"/>
          </a:p>
        </p:txBody>
      </p:sp>
      <p:sp>
        <p:nvSpPr>
          <p:cNvPr id="20" name="Date Placeholder 19"/>
          <p:cNvSpPr>
            <a:spLocks noGrp="1"/>
          </p:cNvSpPr>
          <p:nvPr>
            <p:ph type="dt" sz="half" idx="10"/>
          </p:nvPr>
        </p:nvSpPr>
        <p:spPr>
          <a:xfrm>
            <a:off x="3931920" y="1327188"/>
            <a:ext cx="1280160" cy="457200"/>
          </a:xfrm>
        </p:spPr>
        <p:txBody>
          <a:bodyPr/>
          <a:lstStyle>
            <a:lvl1pPr algn="ctr">
              <a:defRPr sz="1100" spc="0" baseline="0">
                <a:solidFill>
                  <a:schemeClr val="tx1"/>
                </a:solidFill>
                <a:latin typeface="+mn-lt"/>
              </a:defRPr>
            </a:lvl1pPr>
          </a:lstStyle>
          <a:p>
            <a:fld id="{54174284-D68C-4A47-B227-342CA344ED08}" type="datetimeFigureOut">
              <a:rPr lang="en-US" smtClean="0"/>
              <a:pPr/>
              <a:t>10/11/2024</a:t>
            </a:fld>
            <a:endParaRPr lang="en-US"/>
          </a:p>
        </p:txBody>
      </p:sp>
      <p:sp>
        <p:nvSpPr>
          <p:cNvPr id="21" name="Footer Placeholder 20"/>
          <p:cNvSpPr>
            <a:spLocks noGrp="1"/>
          </p:cNvSpPr>
          <p:nvPr>
            <p:ph type="ftr" sz="quarter" idx="11"/>
          </p:nvPr>
        </p:nvSpPr>
        <p:spPr>
          <a:xfrm>
            <a:off x="1104936" y="5211060"/>
            <a:ext cx="4429125" cy="228600"/>
          </a:xfrm>
        </p:spPr>
        <p:txBody>
          <a:bodyPr/>
          <a:lstStyle>
            <a:lvl1pPr algn="l">
              <a:defRPr sz="900">
                <a:solidFill>
                  <a:schemeClr val="tx1">
                    <a:lumMod val="75000"/>
                    <a:lumOff val="25000"/>
                  </a:schemeClr>
                </a:solidFill>
              </a:defRPr>
            </a:lvl1pPr>
          </a:lstStyle>
          <a:p>
            <a:endParaRPr lang="en-US"/>
          </a:p>
        </p:txBody>
      </p:sp>
      <p:sp>
        <p:nvSpPr>
          <p:cNvPr id="22" name="Slide Number Placeholder 21"/>
          <p:cNvSpPr>
            <a:spLocks noGrp="1"/>
          </p:cNvSpPr>
          <p:nvPr>
            <p:ph type="sldNum" sz="quarter" idx="12"/>
          </p:nvPr>
        </p:nvSpPr>
        <p:spPr>
          <a:xfrm>
            <a:off x="6455190" y="5212080"/>
            <a:ext cx="1583911" cy="228600"/>
          </a:xfrm>
        </p:spPr>
        <p:txBody>
          <a:bodyPr/>
          <a:lstStyle>
            <a:lvl1pPr>
              <a:defRPr>
                <a:solidFill>
                  <a:schemeClr val="tx1">
                    <a:lumMod val="75000"/>
                    <a:lumOff val="25000"/>
                  </a:schemeClr>
                </a:solidFill>
              </a:defRPr>
            </a:lvl1pPr>
          </a:lstStyle>
          <a:p>
            <a:fld id="{746DBFF2-C745-47C3-8C9B-2E9DA9C19F0C}" type="slidenum">
              <a:rPr lang="en-US" smtClean="0"/>
              <a:pPr/>
              <a:t>‹#›</a:t>
            </a:fld>
            <a:endParaRPr lang="en-US"/>
          </a:p>
        </p:txBody>
      </p:sp>
    </p:spTree>
    <p:extLst>
      <p:ext uri="{BB962C8B-B14F-4D97-AF65-F5344CB8AC3E}">
        <p14:creationId xmlns:p14="http://schemas.microsoft.com/office/powerpoint/2010/main" val="4257709368"/>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4174284-D68C-4A47-B227-342CA344ED08}" type="datetimeFigureOut">
              <a:rPr lang="en-US" smtClean="0"/>
              <a:pPr/>
              <a:t>10/11/2024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46DBFF2-C745-47C3-8C9B-2E9DA9C19F0C}" type="slidenum">
              <a:rPr lang="en-US" smtClean="0"/>
              <a:pPr/>
              <a:t>‹#›</a:t>
            </a:fld>
            <a:endParaRPr lang="en-US"/>
          </a:p>
        </p:txBody>
      </p:sp>
    </p:spTree>
    <p:extLst>
      <p:ext uri="{BB962C8B-B14F-4D97-AF65-F5344CB8AC3E}">
        <p14:creationId xmlns:p14="http://schemas.microsoft.com/office/powerpoint/2010/main" val="2789473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9144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980902" y="1275025"/>
            <a:ext cx="7182197"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088136" y="1385316"/>
            <a:ext cx="6967728" cy="4087368"/>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3794760" y="1267730"/>
            <a:ext cx="1554480" cy="6400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3886200" y="1267731"/>
            <a:ext cx="1371600" cy="548640"/>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172717" y="2094309"/>
            <a:ext cx="6803136" cy="2587752"/>
          </a:xfrm>
        </p:spPr>
        <p:txBody>
          <a:bodyPr anchor="ctr">
            <a:noAutofit/>
          </a:bodyPr>
          <a:lstStyle>
            <a:lvl1pPr algn="ctr">
              <a:lnSpc>
                <a:spcPct val="83000"/>
              </a:lnSpc>
              <a:defRPr lang="en-US" sz="6200" kern="1200" cap="all" spc="-100" baseline="0" dirty="0">
                <a:solidFill>
                  <a:schemeClr val="tx1">
                    <a:lumMod val="85000"/>
                    <a:lumOff val="15000"/>
                  </a:schemeClr>
                </a:solidFill>
                <a:effectLst/>
                <a:latin typeface="+mj-lt"/>
                <a:ea typeface="+mn-ea"/>
                <a:cs typeface="+mn-cs"/>
              </a:defRPr>
            </a:lvl1pPr>
          </a:lstStyle>
          <a:p>
            <a:r>
              <a:rPr lang="en-US" smtClean="0"/>
              <a:t>Click to edit Master title style</a:t>
            </a:r>
            <a:endParaRPr lang="en-US" dirty="0"/>
          </a:p>
        </p:txBody>
      </p:sp>
      <p:sp>
        <p:nvSpPr>
          <p:cNvPr id="3" name="Text Placeholder 2"/>
          <p:cNvSpPr>
            <a:spLocks noGrp="1"/>
          </p:cNvSpPr>
          <p:nvPr>
            <p:ph type="body" idx="1"/>
          </p:nvPr>
        </p:nvSpPr>
        <p:spPr>
          <a:xfrm>
            <a:off x="1172718" y="4682062"/>
            <a:ext cx="6803136" cy="502920"/>
          </a:xfrm>
        </p:spPr>
        <p:txBody>
          <a:bodyPr anchor="t">
            <a:normAutofit/>
          </a:bodyPr>
          <a:lstStyle>
            <a:lvl1pPr marL="0" indent="0" algn="ctr">
              <a:buNone/>
              <a:defRPr sz="1400">
                <a:solidFill>
                  <a:schemeClr val="tx1"/>
                </a:solidFill>
                <a:effectLst/>
              </a:defRPr>
            </a:lvl1pPr>
            <a:lvl2pPr marL="457200" indent="0">
              <a:buNone/>
              <a:defRPr sz="1400">
                <a:solidFill>
                  <a:schemeClr val="tx1">
                    <a:tint val="75000"/>
                  </a:schemeClr>
                </a:solidFill>
              </a:defRPr>
            </a:lvl2pPr>
            <a:lvl3pPr marL="914400" indent="0">
              <a:buNone/>
              <a:defRPr sz="14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3931920" y="1325880"/>
            <a:ext cx="1280160" cy="457200"/>
          </a:xfrm>
        </p:spPr>
        <p:txBody>
          <a:bodyPr/>
          <a:lstStyle>
            <a:lvl1pPr algn="ctr">
              <a:defRPr lang="en-US" sz="1100" kern="1200" spc="0" baseline="0">
                <a:solidFill>
                  <a:schemeClr val="tx1"/>
                </a:solidFill>
                <a:latin typeface="+mn-lt"/>
                <a:ea typeface="+mn-ea"/>
                <a:cs typeface="+mn-cs"/>
              </a:defRPr>
            </a:lvl1pPr>
          </a:lstStyle>
          <a:p>
            <a:fld id="{54174284-D68C-4A47-B227-342CA344ED08}" type="datetimeFigureOut">
              <a:rPr lang="en-US" smtClean="0"/>
              <a:pPr/>
              <a:t>10/11/2024</a:t>
            </a:fld>
            <a:endParaRPr lang="en-US"/>
          </a:p>
        </p:txBody>
      </p:sp>
      <p:sp>
        <p:nvSpPr>
          <p:cNvPr id="5" name="Footer Placeholder 4"/>
          <p:cNvSpPr>
            <a:spLocks noGrp="1"/>
          </p:cNvSpPr>
          <p:nvPr>
            <p:ph type="ftr" sz="quarter" idx="11"/>
          </p:nvPr>
        </p:nvSpPr>
        <p:spPr>
          <a:xfrm>
            <a:off x="1104679" y="5211060"/>
            <a:ext cx="4430268" cy="228600"/>
          </a:xfrm>
        </p:spPr>
        <p:txBody>
          <a:bodyPr/>
          <a:lstStyle>
            <a:lvl1pPr algn="l">
              <a:defRPr/>
            </a:lvl1pPr>
          </a:lstStyle>
          <a:p>
            <a:endParaRPr lang="en-US"/>
          </a:p>
        </p:txBody>
      </p:sp>
      <p:sp>
        <p:nvSpPr>
          <p:cNvPr id="6" name="Slide Number Placeholder 5"/>
          <p:cNvSpPr>
            <a:spLocks noGrp="1"/>
          </p:cNvSpPr>
          <p:nvPr>
            <p:ph type="sldNum" sz="quarter" idx="12"/>
          </p:nvPr>
        </p:nvSpPr>
        <p:spPr>
          <a:xfrm>
            <a:off x="6453378" y="5211060"/>
            <a:ext cx="1584198" cy="228600"/>
          </a:xfrm>
        </p:spPr>
        <p:txBody>
          <a:bodyPr/>
          <a:lstStyle/>
          <a:p>
            <a:fld id="{746DBFF2-C745-47C3-8C9B-2E9DA9C19F0C}" type="slidenum">
              <a:rPr lang="en-US" smtClean="0"/>
              <a:pPr/>
              <a:t>‹#›</a:t>
            </a:fld>
            <a:endParaRPr lang="en-US"/>
          </a:p>
        </p:txBody>
      </p:sp>
    </p:spTree>
    <p:extLst>
      <p:ext uri="{BB962C8B-B14F-4D97-AF65-F5344CB8AC3E}">
        <p14:creationId xmlns:p14="http://schemas.microsoft.com/office/powerpoint/2010/main" val="232392680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731520" y="2103120"/>
            <a:ext cx="3657600" cy="393192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754880" y="2103120"/>
            <a:ext cx="3657600" cy="393192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4174284-D68C-4A47-B227-342CA344ED08}" type="datetimeFigureOut">
              <a:rPr lang="en-US" smtClean="0"/>
              <a:pPr/>
              <a:t>10/11/2024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6DBFF2-C745-47C3-8C9B-2E9DA9C19F0C}" type="slidenum">
              <a:rPr lang="en-US" smtClean="0"/>
              <a:pPr/>
              <a:t>‹#›</a:t>
            </a:fld>
            <a:endParaRPr lang="en-US"/>
          </a:p>
        </p:txBody>
      </p:sp>
    </p:spTree>
    <p:extLst>
      <p:ext uri="{BB962C8B-B14F-4D97-AF65-F5344CB8AC3E}">
        <p14:creationId xmlns:p14="http://schemas.microsoft.com/office/powerpoint/2010/main" val="3228587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731520" y="2074334"/>
            <a:ext cx="365760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731520" y="2755898"/>
            <a:ext cx="365760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54880" y="2074334"/>
            <a:ext cx="365760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54880" y="2756581"/>
            <a:ext cx="365760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4174284-D68C-4A47-B227-342CA344ED08}" type="datetimeFigureOut">
              <a:rPr lang="en-US" smtClean="0"/>
              <a:pPr/>
              <a:t>10/11/2024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46DBFF2-C745-47C3-8C9B-2E9DA9C19F0C}" type="slidenum">
              <a:rPr lang="en-US" smtClean="0"/>
              <a:pPr/>
              <a:t>‹#›</a:t>
            </a:fld>
            <a:endParaRPr lang="en-US"/>
          </a:p>
        </p:txBody>
      </p:sp>
    </p:spTree>
    <p:extLst>
      <p:ext uri="{BB962C8B-B14F-4D97-AF65-F5344CB8AC3E}">
        <p14:creationId xmlns:p14="http://schemas.microsoft.com/office/powerpoint/2010/main" val="5021700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4174284-D68C-4A47-B227-342CA344ED08}" type="datetimeFigureOut">
              <a:rPr lang="en-US" smtClean="0"/>
              <a:pPr/>
              <a:t>10/11/2024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46DBFF2-C745-47C3-8C9B-2E9DA9C19F0C}" type="slidenum">
              <a:rPr lang="en-US" smtClean="0"/>
              <a:pPr/>
              <a:t>‹#›</a:t>
            </a:fld>
            <a:endParaRPr lang="en-US"/>
          </a:p>
        </p:txBody>
      </p:sp>
    </p:spTree>
    <p:extLst>
      <p:ext uri="{BB962C8B-B14F-4D97-AF65-F5344CB8AC3E}">
        <p14:creationId xmlns:p14="http://schemas.microsoft.com/office/powerpoint/2010/main" val="1462520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174284-D68C-4A47-B227-342CA344ED08}" type="datetimeFigureOut">
              <a:rPr lang="en-US" smtClean="0"/>
              <a:pPr/>
              <a:t>10/11/2024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46DBFF2-C745-47C3-8C9B-2E9DA9C19F0C}" type="slidenum">
              <a:rPr lang="en-US" smtClean="0"/>
              <a:pPr/>
              <a:t>‹#›</a:t>
            </a:fld>
            <a:endParaRPr lang="en-US"/>
          </a:p>
        </p:txBody>
      </p:sp>
    </p:spTree>
    <p:extLst>
      <p:ext uri="{BB962C8B-B14F-4D97-AF65-F5344CB8AC3E}">
        <p14:creationId xmlns:p14="http://schemas.microsoft.com/office/powerpoint/2010/main" val="794896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184147" y="173736"/>
            <a:ext cx="6398514" cy="65105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6765290" y="173736"/>
            <a:ext cx="2194560" cy="651052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607392"/>
            <a:ext cx="1823085" cy="1645920"/>
          </a:xfrm>
        </p:spPr>
        <p:txBody>
          <a:bodyPr anchor="b">
            <a:normAutofit/>
          </a:bodyPr>
          <a:lstStyle>
            <a:lvl1pPr algn="l" defTabSz="914400" rtl="0" eaLnBrk="1" latinLnBrk="0" hangingPunct="1">
              <a:lnSpc>
                <a:spcPct val="90000"/>
              </a:lnSpc>
              <a:spcBef>
                <a:spcPct val="0"/>
              </a:spcBef>
              <a:buNone/>
              <a:defRPr lang="en-US" sz="2400" b="0" kern="1200" cap="none" spc="0" baseline="0" dirty="0">
                <a:solidFill>
                  <a:srgbClr val="FFFFFF"/>
                </a:solidFill>
                <a:effectLst/>
                <a:latin typeface="+mj-lt"/>
                <a:ea typeface="+mn-ea"/>
                <a:cs typeface="+mn-cs"/>
              </a:defRPr>
            </a:lvl1pPr>
          </a:lstStyle>
          <a:p>
            <a:r>
              <a:rPr lang="en-US" smtClean="0"/>
              <a:t>Click to edit Master title style</a:t>
            </a:r>
            <a:endParaRPr lang="en-US" dirty="0"/>
          </a:p>
        </p:txBody>
      </p:sp>
      <p:sp>
        <p:nvSpPr>
          <p:cNvPr id="3" name="Content Placeholder 2"/>
          <p:cNvSpPr>
            <a:spLocks noGrp="1"/>
          </p:cNvSpPr>
          <p:nvPr>
            <p:ph idx="1"/>
          </p:nvPr>
        </p:nvSpPr>
        <p:spPr>
          <a:xfrm>
            <a:off x="668976" y="907143"/>
            <a:ext cx="5428856" cy="5043714"/>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972300" y="2286000"/>
            <a:ext cx="1823085" cy="3505200"/>
          </a:xfrm>
        </p:spPr>
        <p:txBody>
          <a:bodyPr>
            <a:normAutofit/>
          </a:bodyPr>
          <a:lstStyle>
            <a:lvl1pPr marL="0" indent="0">
              <a:lnSpc>
                <a:spcPct val="110000"/>
              </a:lnSpc>
              <a:spcBef>
                <a:spcPts val="800"/>
              </a:spcBef>
              <a:buNone/>
              <a:defRPr sz="13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7"/>
          <p:cNvSpPr>
            <a:spLocks noGrp="1"/>
          </p:cNvSpPr>
          <p:nvPr>
            <p:ph type="dt" sz="half" idx="10"/>
          </p:nvPr>
        </p:nvSpPr>
        <p:spPr/>
        <p:txBody>
          <a:bodyPr/>
          <a:lstStyle/>
          <a:p>
            <a:fld id="{54174284-D68C-4A47-B227-342CA344ED08}" type="datetimeFigureOut">
              <a:rPr lang="en-US" smtClean="0"/>
              <a:pPr/>
              <a:t>10/11/2024</a:t>
            </a:fld>
            <a:endParaRPr lang="en-US"/>
          </a:p>
        </p:txBody>
      </p:sp>
      <p:sp>
        <p:nvSpPr>
          <p:cNvPr id="9" name="Footer Placeholder 8"/>
          <p:cNvSpPr>
            <a:spLocks noGrp="1"/>
          </p:cNvSpPr>
          <p:nvPr>
            <p:ph type="ftr" sz="quarter" idx="11"/>
          </p:nvPr>
        </p:nvSpPr>
        <p:spPr/>
        <p:txBody>
          <a:bodyPr/>
          <a:lstStyle>
            <a:lvl1pPr algn="r">
              <a:defRPr/>
            </a:lvl1pPr>
          </a:lstStyle>
          <a:p>
            <a:endParaRPr lang="en-US"/>
          </a:p>
        </p:txBody>
      </p:sp>
      <p:sp>
        <p:nvSpPr>
          <p:cNvPr id="11" name="Slide Number Placeholder 10"/>
          <p:cNvSpPr>
            <a:spLocks noGrp="1"/>
          </p:cNvSpPr>
          <p:nvPr>
            <p:ph type="sldNum" sz="quarter" idx="12"/>
          </p:nvPr>
        </p:nvSpPr>
        <p:spPr>
          <a:xfrm>
            <a:off x="7795258" y="6310086"/>
            <a:ext cx="1097280" cy="274320"/>
          </a:xfrm>
        </p:spPr>
        <p:txBody>
          <a:bodyPr/>
          <a:lstStyle>
            <a:lvl1pPr>
              <a:defRPr>
                <a:solidFill>
                  <a:srgbClr val="FFFFFF"/>
                </a:solidFill>
              </a:defRPr>
            </a:lvl1pPr>
          </a:lstStyle>
          <a:p>
            <a:fld id="{746DBFF2-C745-47C3-8C9B-2E9DA9C19F0C}" type="slidenum">
              <a:rPr lang="en-US" smtClean="0"/>
              <a:pPr/>
              <a:t>‹#›</a:t>
            </a:fld>
            <a:endParaRPr lang="en-US"/>
          </a:p>
        </p:txBody>
      </p:sp>
      <p:sp>
        <p:nvSpPr>
          <p:cNvPr id="12" name="Rectangle 11"/>
          <p:cNvSpPr/>
          <p:nvPr/>
        </p:nvSpPr>
        <p:spPr>
          <a:xfrm>
            <a:off x="6868160" y="274320"/>
            <a:ext cx="1988820" cy="6309360"/>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55937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6765290" y="173736"/>
            <a:ext cx="2194560" cy="651052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603504"/>
            <a:ext cx="1824228" cy="1645920"/>
          </a:xfrm>
        </p:spPr>
        <p:txBody>
          <a:bodyPr anchor="b">
            <a:noAutofit/>
          </a:bodyPr>
          <a:lstStyle>
            <a:lvl1pPr algn="l">
              <a:defRPr sz="2400" b="0">
                <a:solidFill>
                  <a:srgbClr val="FFFFFF"/>
                </a:solidFill>
                <a:latin typeface="+mj-lt"/>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71449" y="173736"/>
            <a:ext cx="6398514" cy="6510528"/>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972300" y="2286000"/>
            <a:ext cx="1824228" cy="3502152"/>
          </a:xfrm>
        </p:spPr>
        <p:txBody>
          <a:bodyPr>
            <a:normAutofit/>
          </a:bodyPr>
          <a:lstStyle>
            <a:lvl1pPr marL="0" indent="0" algn="l">
              <a:lnSpc>
                <a:spcPct val="110000"/>
              </a:lnSpc>
              <a:spcBef>
                <a:spcPts val="800"/>
              </a:spcBef>
              <a:buNone/>
              <a:defRPr sz="13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54174284-D68C-4A47-B227-342CA344ED08}" type="datetimeFigureOut">
              <a:rPr lang="en-US" smtClean="0"/>
              <a:pPr/>
              <a:t>10/11/2024</a:t>
            </a:fld>
            <a:endParaRPr lang="en-US"/>
          </a:p>
        </p:txBody>
      </p:sp>
      <p:sp>
        <p:nvSpPr>
          <p:cNvPr id="6" name="Footer Placeholder 5"/>
          <p:cNvSpPr>
            <a:spLocks noGrp="1"/>
          </p:cNvSpPr>
          <p:nvPr>
            <p:ph type="ftr" sz="quarter" idx="11"/>
          </p:nvPr>
        </p:nvSpPr>
        <p:spPr/>
        <p:txBody>
          <a:bodyPr/>
          <a:lstStyle>
            <a:lvl1pPr marL="0" algn="r" defTabSz="914400" rtl="0" eaLnBrk="1" latinLnBrk="0" hangingPunct="1">
              <a:defRPr lang="en-US" sz="9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a:p>
        </p:txBody>
      </p:sp>
      <p:sp>
        <p:nvSpPr>
          <p:cNvPr id="7" name="Slide Number Placeholder 6"/>
          <p:cNvSpPr>
            <a:spLocks noGrp="1"/>
          </p:cNvSpPr>
          <p:nvPr>
            <p:ph type="sldNum" sz="quarter" idx="12"/>
          </p:nvPr>
        </p:nvSpPr>
        <p:spPr>
          <a:xfrm>
            <a:off x="7797546" y="6309360"/>
            <a:ext cx="1097280" cy="274320"/>
          </a:xfrm>
        </p:spPr>
        <p:txBody>
          <a:bodyPr/>
          <a:lstStyle>
            <a:lvl1pPr>
              <a:defRPr>
                <a:solidFill>
                  <a:srgbClr val="FFFFFF"/>
                </a:solidFill>
              </a:defRPr>
            </a:lvl1pPr>
          </a:lstStyle>
          <a:p>
            <a:fld id="{746DBFF2-C745-47C3-8C9B-2E9DA9C19F0C}" type="slidenum">
              <a:rPr lang="en-US" smtClean="0"/>
              <a:pPr/>
              <a:t>‹#›</a:t>
            </a:fld>
            <a:endParaRPr lang="en-US"/>
          </a:p>
        </p:txBody>
      </p:sp>
      <p:sp>
        <p:nvSpPr>
          <p:cNvPr id="11" name="Rectangle 10"/>
          <p:cNvSpPr/>
          <p:nvPr/>
        </p:nvSpPr>
        <p:spPr>
          <a:xfrm>
            <a:off x="6868160" y="274320"/>
            <a:ext cx="1988820" cy="6309360"/>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822826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4174284-D68C-4A47-B227-342CA344ED08}" type="datetimeFigureOut">
              <a:rPr lang="en-US" smtClean="0"/>
              <a:pPr/>
              <a:t>10/11/2024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6DBFF2-C745-47C3-8C9B-2E9DA9C19F0C}" type="slidenum">
              <a:rPr lang="en-US" smtClean="0"/>
              <a:pPr/>
              <a:t>‹#›</a:t>
            </a:fld>
            <a:endParaRPr lang="en-US"/>
          </a:p>
        </p:txBody>
      </p:sp>
    </p:spTree>
    <p:extLst>
      <p:ext uri="{BB962C8B-B14F-4D97-AF65-F5344CB8AC3E}">
        <p14:creationId xmlns:p14="http://schemas.microsoft.com/office/powerpoint/2010/main" val="2480725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762000"/>
            <a:ext cx="1771650" cy="52578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762000"/>
            <a:ext cx="6057900" cy="52578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4174284-D68C-4A47-B227-342CA344ED08}" type="datetimeFigureOut">
              <a:rPr lang="en-US" smtClean="0"/>
              <a:pPr/>
              <a:t>10/11/2024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6DBFF2-C745-47C3-8C9B-2E9DA9C19F0C}" type="slidenum">
              <a:rPr lang="en-US" smtClean="0"/>
              <a:pPr/>
              <a:t>‹#›</a:t>
            </a:fld>
            <a:endParaRPr lang="en-US"/>
          </a:p>
        </p:txBody>
      </p:sp>
    </p:spTree>
    <p:extLst>
      <p:ext uri="{BB962C8B-B14F-4D97-AF65-F5344CB8AC3E}">
        <p14:creationId xmlns:p14="http://schemas.microsoft.com/office/powerpoint/2010/main" val="289856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176022" y="173736"/>
            <a:ext cx="8791956" cy="6510528"/>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731520" y="642594"/>
            <a:ext cx="7680960" cy="13716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731520" y="2103120"/>
            <a:ext cx="7680960" cy="393192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234768" y="6309360"/>
            <a:ext cx="2057400" cy="274320"/>
          </a:xfrm>
          <a:prstGeom prst="rect">
            <a:avLst/>
          </a:prstGeom>
        </p:spPr>
        <p:txBody>
          <a:bodyPr vert="horz" lIns="91440" tIns="45720" rIns="91440" bIns="45720" rtlCol="0" anchor="b"/>
          <a:lstStyle>
            <a:lvl1pPr algn="l">
              <a:defRPr sz="900">
                <a:solidFill>
                  <a:schemeClr val="tx1">
                    <a:lumMod val="75000"/>
                    <a:lumOff val="25000"/>
                  </a:schemeClr>
                </a:solidFill>
              </a:defRPr>
            </a:lvl1pPr>
          </a:lstStyle>
          <a:p>
            <a:fld id="{54174284-D68C-4A47-B227-342CA344ED08}" type="datetimeFigureOut">
              <a:rPr lang="en-US" smtClean="0"/>
              <a:pPr/>
              <a:t>10/11/2024</a:t>
            </a:fld>
            <a:endParaRPr lang="en-US"/>
          </a:p>
        </p:txBody>
      </p:sp>
      <p:sp>
        <p:nvSpPr>
          <p:cNvPr id="5" name="Footer Placeholder 4"/>
          <p:cNvSpPr>
            <a:spLocks noGrp="1"/>
          </p:cNvSpPr>
          <p:nvPr>
            <p:ph type="ftr" sz="quarter" idx="3"/>
          </p:nvPr>
        </p:nvSpPr>
        <p:spPr>
          <a:xfrm>
            <a:off x="2596896" y="6309360"/>
            <a:ext cx="3950208" cy="274320"/>
          </a:xfrm>
          <a:prstGeom prst="rect">
            <a:avLst/>
          </a:prstGeom>
        </p:spPr>
        <p:txBody>
          <a:bodyPr vert="horz" lIns="91440" tIns="45720" rIns="91440" bIns="45720" rtlCol="0" anchor="b"/>
          <a:lstStyle>
            <a:lvl1pPr algn="ctr">
              <a:defRPr sz="900">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823382" y="6309360"/>
            <a:ext cx="1097280" cy="274320"/>
          </a:xfrm>
          <a:prstGeom prst="rect">
            <a:avLst/>
          </a:prstGeom>
        </p:spPr>
        <p:txBody>
          <a:bodyPr vert="horz" lIns="91440" tIns="45720" rIns="91440" bIns="45720" rtlCol="0" anchor="b"/>
          <a:lstStyle>
            <a:lvl1pPr algn="r">
              <a:defRPr sz="900">
                <a:solidFill>
                  <a:schemeClr val="tx1">
                    <a:lumMod val="75000"/>
                    <a:lumOff val="25000"/>
                  </a:schemeClr>
                </a:solidFill>
              </a:defRPr>
            </a:lvl1pPr>
          </a:lstStyle>
          <a:p>
            <a:fld id="{746DBFF2-C745-47C3-8C9B-2E9DA9C19F0C}" type="slidenum">
              <a:rPr lang="en-US" smtClean="0"/>
              <a:pPr/>
              <a:t>‹#›</a:t>
            </a:fld>
            <a:endParaRPr lang="en-US"/>
          </a:p>
        </p:txBody>
      </p:sp>
    </p:spTree>
    <p:extLst>
      <p:ext uri="{BB962C8B-B14F-4D97-AF65-F5344CB8AC3E}">
        <p14:creationId xmlns:p14="http://schemas.microsoft.com/office/powerpoint/2010/main" val="468739356"/>
      </p:ext>
    </p:extLst>
  </p:cSld>
  <p:clrMap bg1="lt1" tx1="dk1" bg2="lt2" tx2="dk2" accent1="accent1" accent2="accent2" accent3="accent3" accent4="accent4" accent5="accent5" accent6="accent6" hlink="hlink" folHlink="folHlink"/>
  <p:sldLayoutIdLst>
    <p:sldLayoutId id="2147484184" r:id="rId1"/>
    <p:sldLayoutId id="2147484185" r:id="rId2"/>
    <p:sldLayoutId id="2147484186" r:id="rId3"/>
    <p:sldLayoutId id="2147484187" r:id="rId4"/>
    <p:sldLayoutId id="2147484188" r:id="rId5"/>
    <p:sldLayoutId id="2147484189" r:id="rId6"/>
    <p:sldLayoutId id="2147484190" r:id="rId7"/>
    <p:sldLayoutId id="2147484191" r:id="rId8"/>
    <p:sldLayoutId id="2147484192" r:id="rId9"/>
    <p:sldLayoutId id="2147484193" r:id="rId10"/>
    <p:sldLayoutId id="2147484194" r:id="rId11"/>
  </p:sldLayoutIdLst>
  <p:txStyles>
    <p:titleStyle>
      <a:lvl1pPr algn="l" defTabSz="914400" rtl="0" eaLnBrk="1" latinLnBrk="0" hangingPunct="1">
        <a:lnSpc>
          <a:spcPct val="90000"/>
        </a:lnSpc>
        <a:spcBef>
          <a:spcPct val="0"/>
        </a:spcBef>
        <a:buNone/>
        <a:defRPr lang="en-US" sz="40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type="title"/>
          </p:nvPr>
        </p:nvSpPr>
        <p:spPr>
          <a:xfrm>
            <a:off x="990600" y="2133600"/>
            <a:ext cx="7620000" cy="1981200"/>
          </a:xfrm>
        </p:spPr>
        <p:txBody>
          <a:bodyPr>
            <a:normAutofit fontScale="90000"/>
          </a:bodyPr>
          <a:lstStyle/>
          <a:p>
            <a:r>
              <a:rPr lang="en-US" b="1" u="sng" dirty="0"/>
              <a:t>ADVANCING DIABETIC DIAGNOSIS THROUGH CNN ARCHITECTURES AND MACHINE LEARNING PREDICTION</a:t>
            </a:r>
            <a:endParaRPr lang="en-AU" dirty="0"/>
          </a:p>
        </p:txBody>
      </p:sp>
    </p:spTree>
    <p:extLst>
      <p:ext uri="{BB962C8B-B14F-4D97-AF65-F5344CB8AC3E}">
        <p14:creationId xmlns:p14="http://schemas.microsoft.com/office/powerpoint/2010/main" val="351320496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6728" y="152400"/>
            <a:ext cx="7772400" cy="554736"/>
          </a:xfrm>
        </p:spPr>
        <p:txBody>
          <a:bodyPr>
            <a:normAutofit fontScale="90000"/>
          </a:bodyPr>
          <a:lstStyle/>
          <a:p>
            <a:r>
              <a:rPr lang="en-US" sz="2400" b="1" dirty="0" smtClean="0">
                <a:solidFill>
                  <a:srgbClr val="FFFF00"/>
                </a:solidFill>
                <a:latin typeface="Bahnschrift Condensed" pitchFamily="34" charset="0"/>
              </a:rPr>
              <a:t/>
            </a:r>
            <a:br>
              <a:rPr lang="en-US" sz="2400" b="1" dirty="0" smtClean="0">
                <a:solidFill>
                  <a:srgbClr val="FFFF00"/>
                </a:solidFill>
                <a:latin typeface="Bahnschrift Condensed" pitchFamily="34" charset="0"/>
              </a:rPr>
            </a:br>
            <a:r>
              <a:rPr lang="en-US" sz="2400" b="1" dirty="0">
                <a:solidFill>
                  <a:srgbClr val="FFFF00"/>
                </a:solidFill>
                <a:latin typeface="Bahnschrift Condensed" pitchFamily="34" charset="0"/>
              </a:rPr>
              <a:t/>
            </a:r>
            <a:br>
              <a:rPr lang="en-US" sz="2400" b="1" dirty="0">
                <a:solidFill>
                  <a:srgbClr val="FFFF00"/>
                </a:solidFill>
                <a:latin typeface="Bahnschrift Condensed" pitchFamily="34" charset="0"/>
              </a:rPr>
            </a:br>
            <a:r>
              <a:rPr lang="en-US" sz="3100" b="1" dirty="0" smtClean="0">
                <a:solidFill>
                  <a:schemeClr val="tx1"/>
                </a:solidFill>
                <a:latin typeface="Bahnschrift Condensed" pitchFamily="34" charset="0"/>
              </a:rPr>
              <a:t>ABSTRACT</a:t>
            </a:r>
            <a:r>
              <a:rPr lang="en-US" sz="3100" b="1" dirty="0" smtClean="0">
                <a:solidFill>
                  <a:srgbClr val="FFFF00"/>
                </a:solidFill>
                <a:latin typeface="Bahnschrift Condensed" pitchFamily="34" charset="0"/>
              </a:rPr>
              <a:t>:</a:t>
            </a:r>
            <a:endParaRPr lang="en-US" sz="3100" b="1" dirty="0">
              <a:solidFill>
                <a:srgbClr val="FFFF00"/>
              </a:solidFill>
            </a:endParaRPr>
          </a:p>
        </p:txBody>
      </p:sp>
      <p:sp>
        <p:nvSpPr>
          <p:cNvPr id="3" name="Content Placeholder 2"/>
          <p:cNvSpPr>
            <a:spLocks noGrp="1"/>
          </p:cNvSpPr>
          <p:nvPr>
            <p:ph idx="1"/>
          </p:nvPr>
        </p:nvSpPr>
        <p:spPr>
          <a:xfrm>
            <a:off x="275591" y="1219200"/>
            <a:ext cx="8458200" cy="4572000"/>
          </a:xfrm>
        </p:spPr>
        <p:txBody>
          <a:bodyPr>
            <a:noAutofit/>
          </a:bodyPr>
          <a:lstStyle/>
          <a:p>
            <a:pPr algn="just"/>
            <a:r>
              <a:rPr lang="en-US" sz="2000" dirty="0">
                <a:latin typeface="Times New Roman" panose="02020603050405020304" pitchFamily="18" charset="0"/>
                <a:cs typeface="Times New Roman" panose="02020603050405020304" pitchFamily="18" charset="0"/>
              </a:rPr>
              <a:t>Diabetes mellitus remains a significant global health challenge, necessitating accurate and timely diagnostic methods for effective management. This study explores the application of Convolutional Neural Network (CNN) architectures coupled with machine learning techniques to enhance diabetic diagnosis accuracy. Leveraging a diverse dataset of clinical features, including medical history, biochemical markers, and imaging data, our approach aims to extract intricate patterns and correlations indicative of diabetic conditions. The CNN models are trained on large-scale datasets to discern subtle variations in diagnostic indicators, achieving robust classification performance. Validation against standard clinical practices demonstrates promising results, showcasing the potential of deep learning in augmenting diagnostic precision. This research contributes to the evolution of diabetic healthcare by integrating advanced computational methodologies, paving the way for more personalized and effective treatment strategies</a:t>
            </a:r>
            <a:r>
              <a:rPr lang="en-US" sz="2000" dirty="0"/>
              <a:t>.</a:t>
            </a:r>
            <a:endParaRPr lang="en-AU" sz="20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296"/>
            <a:ext cx="6347713" cy="1320800"/>
          </a:xfrm>
        </p:spPr>
        <p:txBody>
          <a:bodyPr>
            <a:normAutofit fontScale="90000"/>
          </a:bodyPr>
          <a:lstStyle/>
          <a:p>
            <a:r>
              <a:rPr lang="en-US" dirty="0" smtClean="0">
                <a:solidFill>
                  <a:schemeClr val="tx1"/>
                </a:solidFill>
              </a:rPr>
              <a:t/>
            </a:r>
            <a:br>
              <a:rPr lang="en-US" dirty="0" smtClean="0">
                <a:solidFill>
                  <a:schemeClr val="tx1"/>
                </a:solidFill>
              </a:rPr>
            </a:br>
            <a:r>
              <a:rPr lang="en-US" dirty="0" smtClean="0">
                <a:solidFill>
                  <a:schemeClr val="tx1"/>
                </a:solidFill>
              </a:rPr>
              <a:t/>
            </a:r>
            <a:br>
              <a:rPr lang="en-US" dirty="0" smtClean="0">
                <a:solidFill>
                  <a:schemeClr val="tx1"/>
                </a:solidFill>
              </a:rPr>
            </a:br>
            <a:r>
              <a:rPr lang="en-IN" sz="3200" b="1" dirty="0" smtClean="0">
                <a:solidFill>
                  <a:schemeClr val="tx1"/>
                </a:solidFill>
              </a:rPr>
              <a:t>EXISTING </a:t>
            </a:r>
            <a:r>
              <a:rPr lang="en-IN" sz="3200" b="1" dirty="0">
                <a:solidFill>
                  <a:schemeClr val="tx1"/>
                </a:solidFill>
              </a:rPr>
              <a:t>SYSTEM</a:t>
            </a:r>
            <a:r>
              <a:rPr lang="en-US" dirty="0">
                <a:solidFill>
                  <a:schemeClr val="tx1"/>
                </a:solidFill>
              </a:rPr>
              <a:t/>
            </a:r>
            <a:br>
              <a:rPr lang="en-US" dirty="0">
                <a:solidFill>
                  <a:schemeClr val="tx1"/>
                </a:solidFill>
              </a:rPr>
            </a:br>
            <a:r>
              <a:rPr lang="en-US" dirty="0" smtClean="0">
                <a:solidFill>
                  <a:schemeClr val="tx1"/>
                </a:solidFill>
              </a:rPr>
              <a:t/>
            </a:r>
            <a:br>
              <a:rPr lang="en-US" dirty="0" smtClean="0">
                <a:solidFill>
                  <a:schemeClr val="tx1"/>
                </a:solidFill>
              </a:rPr>
            </a:br>
            <a:endParaRPr lang="en-US" dirty="0">
              <a:solidFill>
                <a:schemeClr val="tx1"/>
              </a:solidFill>
            </a:endParaRPr>
          </a:p>
        </p:txBody>
      </p:sp>
      <p:sp>
        <p:nvSpPr>
          <p:cNvPr id="3" name="Content Placeholder 2"/>
          <p:cNvSpPr>
            <a:spLocks noGrp="1"/>
          </p:cNvSpPr>
          <p:nvPr>
            <p:ph idx="1"/>
          </p:nvPr>
        </p:nvSpPr>
        <p:spPr>
          <a:xfrm>
            <a:off x="304800" y="1066800"/>
            <a:ext cx="7772400" cy="5562600"/>
          </a:xfrm>
        </p:spPr>
        <p:txBody>
          <a:bodyPr>
            <a:noAutofit/>
          </a:bodyPr>
          <a:lstStyle/>
          <a:p>
            <a:pPr algn="just"/>
            <a:r>
              <a:rPr lang="en-US" sz="1600" dirty="0">
                <a:latin typeface="Times New Roman" panose="02020603050405020304" pitchFamily="18" charset="0"/>
                <a:cs typeface="Times New Roman" panose="02020603050405020304" pitchFamily="18" charset="0"/>
              </a:rPr>
              <a:t>Leveraging continuous glucose monitoring (CGM) systems, real-time blood glucose (BG) forecasting is essential for proactive interventions, playing a crucial role in enhancing the management of type 1 diabetes (T1D) and type 2 diabetes (T2D). However, developing a model generalized to a population and subsequently embedding it within a microchip of a wearable device presents significant technical challenges. Furthermore, the domain of BG prediction in T2D remains under-explored in the literature. In light of this, we propose a population-specific BG prediction model, leveraging the capabilities of the temporal fusion Transformer (TFT) to adjust predictions based on personal demographic data. Then the trained model is embedded within a system-on-chip, integral to our low-power and low-cost customized wearable device. This device seamlessly communicates with CGM systems through Bluetooth and provides timely BG predictions using edge computing. When evaluated on two publicly available clinical datasets with a total of 124 participants with T1D or T2D, the embedded TFT model consistently demonstrated superior performance, achieving the lowest prediction errors when compared with a range of machine learning baseline methods. Executing the TFT model on our wearable device requires minimal memory and power consumption, enabling continuous decision support for more than 51 days on a single Li-Poly battery charge. These findings demonstrate the significant potential of the proposed TFT model and wearable device in enhancing the quality of life for people with diabetes and effectively addressing real-world challenges</a:t>
            </a:r>
            <a:r>
              <a:rPr lang="en-US" sz="1600" dirty="0"/>
              <a:t>.</a:t>
            </a:r>
            <a:endParaRPr lang="en-AU" sz="16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
            <a:ext cx="8077200" cy="5181600"/>
          </a:xfrm>
        </p:spPr>
        <p:txBody>
          <a:bodyPr>
            <a:normAutofit fontScale="92500"/>
          </a:bodyPr>
          <a:lstStyle/>
          <a:p>
            <a:pPr algn="just"/>
            <a:endParaRPr lang="en-US" dirty="0" smtClean="0">
              <a:latin typeface="Times New Roman" pitchFamily="18" charset="0"/>
              <a:cs typeface="Times New Roman" pitchFamily="18" charset="0"/>
            </a:endParaRPr>
          </a:p>
          <a:p>
            <a:pPr marL="114300" indent="0">
              <a:buNone/>
            </a:pPr>
            <a:r>
              <a:rPr lang="en-AU" sz="2800" b="1" dirty="0"/>
              <a:t>Drawbacks:</a:t>
            </a:r>
            <a:endParaRPr lang="en-US" dirty="0"/>
          </a:p>
          <a:p>
            <a:pPr marL="114300" indent="0" algn="just">
              <a:buNone/>
            </a:pPr>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a:p>
            <a:pPr algn="just"/>
            <a:r>
              <a:rPr lang="en-US" sz="2400" b="1" dirty="0">
                <a:latin typeface="Times New Roman" panose="02020603050405020304" pitchFamily="18" charset="0"/>
                <a:cs typeface="Times New Roman" panose="02020603050405020304" pitchFamily="18" charset="0"/>
              </a:rPr>
              <a:t>Complexity of Embedding</a:t>
            </a:r>
            <a:r>
              <a:rPr lang="en-US" sz="2400" dirty="0">
                <a:latin typeface="Times New Roman" panose="02020603050405020304" pitchFamily="18" charset="0"/>
                <a:cs typeface="Times New Roman" panose="02020603050405020304" pitchFamily="18" charset="0"/>
              </a:rPr>
              <a:t>: Embedding the TFT model within a system-on-chip (</a:t>
            </a:r>
            <a:r>
              <a:rPr lang="en-US" sz="2400" dirty="0" err="1">
                <a:latin typeface="Times New Roman" panose="02020603050405020304" pitchFamily="18" charset="0"/>
                <a:cs typeface="Times New Roman" panose="02020603050405020304" pitchFamily="18" charset="0"/>
              </a:rPr>
              <a:t>SoC</a:t>
            </a:r>
            <a:r>
              <a:rPr lang="en-US" sz="2400" dirty="0">
                <a:latin typeface="Times New Roman" panose="02020603050405020304" pitchFamily="18" charset="0"/>
                <a:cs typeface="Times New Roman" panose="02020603050405020304" pitchFamily="18" charset="0"/>
              </a:rPr>
              <a:t>) of a wearable device introduces technical complexities. Ensuring real-time, reliable operation on a low-power and low-cost device requires rigorous optimization and validation processes, which may be resource-intensive.</a:t>
            </a:r>
            <a:endParaRPr lang="en-AU"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Battery Life and Maintenance</a:t>
            </a:r>
            <a:r>
              <a:rPr lang="en-US" sz="2400" dirty="0">
                <a:latin typeface="Times New Roman" panose="02020603050405020304" pitchFamily="18" charset="0"/>
                <a:cs typeface="Times New Roman" panose="02020603050405020304" pitchFamily="18" charset="0"/>
              </a:rPr>
              <a:t>: While claiming more than 51 days of continuous operation on a single Li-Poly battery charge is impressive, real-world conditions such as varying environmental factors and user behaviors could affect battery life. Ensuring consistent performance over extended periods may require frequent recharging or battery replacements</a:t>
            </a:r>
            <a:r>
              <a:rPr lang="en-US" sz="2400" dirty="0"/>
              <a:t>.</a:t>
            </a:r>
            <a:endParaRPr lang="en-AU" sz="2400" dirty="0"/>
          </a:p>
        </p:txBody>
      </p:sp>
    </p:spTree>
    <p:extLst>
      <p:ext uri="{BB962C8B-B14F-4D97-AF65-F5344CB8AC3E}">
        <p14:creationId xmlns:p14="http://schemas.microsoft.com/office/powerpoint/2010/main" val="236857126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1" y="304800"/>
            <a:ext cx="7620000" cy="381000"/>
          </a:xfrm>
        </p:spPr>
        <p:txBody>
          <a:bodyPr>
            <a:noAutofit/>
          </a:bodyPr>
          <a:lstStyle/>
          <a:p>
            <a:r>
              <a:rPr lang="en-US" sz="2000" dirty="0" smtClean="0"/>
              <a:t/>
            </a:r>
            <a:br>
              <a:rPr lang="en-US" sz="2000" dirty="0" smtClean="0"/>
            </a:br>
            <a:r>
              <a:rPr lang="en-IN" sz="2800" b="1" dirty="0">
                <a:solidFill>
                  <a:schemeClr val="tx1"/>
                </a:solidFill>
              </a:rPr>
              <a:t>PROPOSED SYSTEM</a:t>
            </a:r>
            <a:r>
              <a:rPr lang="en-US" sz="2400" dirty="0">
                <a:solidFill>
                  <a:schemeClr val="tx1"/>
                </a:solidFill>
              </a:rPr>
              <a:t/>
            </a:r>
            <a:br>
              <a:rPr lang="en-US" sz="2400" dirty="0">
                <a:solidFill>
                  <a:schemeClr val="tx1"/>
                </a:solidFill>
              </a:rPr>
            </a:br>
            <a:endParaRPr lang="en-US" sz="2400" dirty="0">
              <a:solidFill>
                <a:schemeClr val="tx1"/>
              </a:solidFill>
            </a:endParaRPr>
          </a:p>
        </p:txBody>
      </p:sp>
      <p:sp>
        <p:nvSpPr>
          <p:cNvPr id="3" name="Content Placeholder 2"/>
          <p:cNvSpPr>
            <a:spLocks noGrp="1"/>
          </p:cNvSpPr>
          <p:nvPr>
            <p:ph idx="1"/>
          </p:nvPr>
        </p:nvSpPr>
        <p:spPr>
          <a:xfrm>
            <a:off x="381000" y="1295400"/>
            <a:ext cx="8458200" cy="4572000"/>
          </a:xfrm>
        </p:spPr>
        <p:txBody>
          <a:bodyPr>
            <a:noAutofit/>
          </a:bodyPr>
          <a:lstStyle/>
          <a:p>
            <a:pPr algn="just"/>
            <a:r>
              <a:rPr lang="en-US" sz="1800" dirty="0">
                <a:latin typeface="Times New Roman" panose="02020603050405020304" pitchFamily="18" charset="0"/>
                <a:cs typeface="Times New Roman" panose="02020603050405020304" pitchFamily="18" charset="0"/>
              </a:rPr>
              <a:t>In the proposed system for advancing diabetic diagnosis, the integration of CNN architectures and machine learning prediction within Django presents a framework for accurate and timely diagnosis. Utilizing Convolutional Neural Networks (CNNs), the system can effectively analyze medical imaging data such as retinal scans or X-rays, extracting intricate patterns indicative of diabetic complications. These CNN models are trained to discern subtle features that traditional methods might overlook, thereby enhancing diagnostic precision. Moreover, through Django, the system ensures seamless interaction with healthcare providers and patients, facilitating swift data input, analysis, and result dissemination. By leveraging machine learning predictions, the system not only aids in early detection but also supports personalized treatment strategies based on individual patient data, thereby potentially improving outcomes in diabetic care management.</a:t>
            </a:r>
            <a:endParaRPr lang="en-AU"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482494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422975"/>
            <a:ext cx="8077200" cy="6806625"/>
          </a:xfrm>
        </p:spPr>
        <p:txBody>
          <a:bodyPr>
            <a:normAutofit/>
          </a:bodyPr>
          <a:lstStyle/>
          <a:p>
            <a:pPr algn="just"/>
            <a:r>
              <a:rPr lang="en-US" sz="2000" b="1" dirty="0">
                <a:latin typeface="Times New Roman" panose="02020603050405020304" pitchFamily="18" charset="0"/>
                <a:cs typeface="Times New Roman" panose="02020603050405020304" pitchFamily="18" charset="0"/>
              </a:rPr>
              <a:t>Enhanced Diagnostic Accuracy</a:t>
            </a:r>
            <a:r>
              <a:rPr lang="en-US" sz="2000" dirty="0">
                <a:latin typeface="Times New Roman" panose="02020603050405020304" pitchFamily="18" charset="0"/>
                <a:cs typeface="Times New Roman" panose="02020603050405020304" pitchFamily="18" charset="0"/>
              </a:rPr>
              <a:t>: CNNs excel at identifying intricate patterns in medical imaging data, such as retinal scans or X-rays, which can significantly improve the accuracy of detecting diabetic complications compared to traditional methods.</a:t>
            </a:r>
            <a:endParaRPr lang="en-AU"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Timely Detection of Diabetic Complications</a:t>
            </a:r>
            <a:r>
              <a:rPr lang="en-US" sz="2000" dirty="0">
                <a:latin typeface="Times New Roman" panose="02020603050405020304" pitchFamily="18" charset="0"/>
                <a:cs typeface="Times New Roman" panose="02020603050405020304" pitchFamily="18" charset="0"/>
              </a:rPr>
              <a:t>: By leveraging machine learning predictions integrated within Django, the system enables timely detection of diabetic complications. Early identification can lead to prompt intervention and potentially mitigate the progression of the disease.</a:t>
            </a:r>
            <a:endParaRPr lang="en-AU"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Efficient Data Handling and Analysis</a:t>
            </a:r>
            <a:r>
              <a:rPr lang="en-US" sz="2000" dirty="0">
                <a:latin typeface="Times New Roman" panose="02020603050405020304" pitchFamily="18" charset="0"/>
                <a:cs typeface="Times New Roman" panose="02020603050405020304" pitchFamily="18" charset="0"/>
              </a:rPr>
              <a:t>: Django facilitates seamless interaction between healthcare providers and patients, streamlining data input, analysis, and result dissemination. This efficiency not only saves time but also enhances overall workflow in clinical settings.</a:t>
            </a:r>
            <a:endParaRPr lang="en-AU" sz="2000" dirty="0">
              <a:latin typeface="Times New Roman" panose="02020603050405020304" pitchFamily="18" charset="0"/>
              <a:cs typeface="Times New Roman" panose="02020603050405020304" pitchFamily="18" charset="0"/>
            </a:endParaRPr>
          </a:p>
        </p:txBody>
      </p:sp>
      <p:sp>
        <p:nvSpPr>
          <p:cNvPr id="2" name="Rectangle 1"/>
          <p:cNvSpPr/>
          <p:nvPr/>
        </p:nvSpPr>
        <p:spPr>
          <a:xfrm>
            <a:off x="533400" y="304800"/>
            <a:ext cx="3429000" cy="584775"/>
          </a:xfrm>
          <a:prstGeom prst="rect">
            <a:avLst/>
          </a:prstGeom>
        </p:spPr>
        <p:txBody>
          <a:bodyPr wrap="square">
            <a:spAutoFit/>
          </a:bodyPr>
          <a:lstStyle/>
          <a:p>
            <a:r>
              <a:rPr lang="en-US" sz="3200" b="1" dirty="0">
                <a:latin typeface="Times New Roman" panose="02020603050405020304" pitchFamily="18" charset="0"/>
                <a:cs typeface="Times New Roman" panose="02020603050405020304" pitchFamily="18" charset="0"/>
              </a:rPr>
              <a:t>Advantages</a:t>
            </a:r>
            <a:r>
              <a:rPr lang="en-US" dirty="0"/>
              <a:t>:	</a:t>
            </a:r>
            <a:endParaRPr lang="en-IN" dirty="0"/>
          </a:p>
        </p:txBody>
      </p:sp>
    </p:spTree>
    <p:extLst>
      <p:ext uri="{BB962C8B-B14F-4D97-AF65-F5344CB8AC3E}">
        <p14:creationId xmlns:p14="http://schemas.microsoft.com/office/powerpoint/2010/main" val="18652674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533400"/>
            <a:ext cx="6347713" cy="1320800"/>
          </a:xfrm>
        </p:spPr>
        <p:txBody>
          <a:bodyPr/>
          <a:lstStyle/>
          <a:p>
            <a:pPr lvl="0"/>
            <a:r>
              <a:rPr lang="en-US" sz="3200" b="1" dirty="0">
                <a:solidFill>
                  <a:schemeClr val="tx1"/>
                </a:solidFill>
              </a:rPr>
              <a:t>PREPARING THE DATASET</a:t>
            </a:r>
            <a:r>
              <a:rPr lang="en-US" sz="3200" b="1" dirty="0" smtClean="0">
                <a:solidFill>
                  <a:schemeClr val="tx1"/>
                </a:solidFill>
              </a:rPr>
              <a:t>:</a:t>
            </a:r>
            <a:endParaRPr lang="en-IN" sz="3200" dirty="0">
              <a:solidFill>
                <a:schemeClr val="tx1"/>
              </a:solidFill>
            </a:endParaRPr>
          </a:p>
        </p:txBody>
      </p:sp>
      <p:sp>
        <p:nvSpPr>
          <p:cNvPr id="3" name="Content Placeholder 2"/>
          <p:cNvSpPr>
            <a:spLocks noGrp="1"/>
          </p:cNvSpPr>
          <p:nvPr>
            <p:ph idx="1"/>
          </p:nvPr>
        </p:nvSpPr>
        <p:spPr>
          <a:xfrm>
            <a:off x="228600" y="2160590"/>
            <a:ext cx="7696199" cy="3880773"/>
          </a:xfrm>
        </p:spPr>
        <p:txBody>
          <a:bodyPr>
            <a:normAutofit/>
          </a:bodyPr>
          <a:lstStyle/>
          <a:p>
            <a:pPr algn="just" fontAlgn="base"/>
            <a:r>
              <a:rPr lang="en-US" sz="2800" dirty="0">
                <a:latin typeface="Times New Roman" panose="02020603050405020304" pitchFamily="18" charset="0"/>
                <a:cs typeface="Times New Roman" panose="02020603050405020304" pitchFamily="18" charset="0"/>
              </a:rPr>
              <a:t>This dataset contains train and test image records of features extracted, which were then classified into 5</a:t>
            </a:r>
            <a:r>
              <a:rPr lang="en-US" sz="2800" dirty="0" smtClean="0">
                <a:latin typeface="Times New Roman" panose="02020603050405020304" pitchFamily="18" charset="0"/>
                <a:cs typeface="Times New Roman" panose="02020603050405020304" pitchFamily="18" charset="0"/>
              </a:rPr>
              <a:t> classes</a:t>
            </a:r>
            <a:r>
              <a:rPr lang="en-US" sz="2800" dirty="0">
                <a:latin typeface="Times New Roman" panose="02020603050405020304" pitchFamily="18" charset="0"/>
                <a:cs typeface="Times New Roman" panose="02020603050405020304" pitchFamily="18" charset="0"/>
              </a:rPr>
              <a:t>.</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225478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7680960" cy="1371600"/>
          </a:xfrm>
        </p:spPr>
        <p:txBody>
          <a:bodyPr/>
          <a:lstStyle/>
          <a:p>
            <a:pPr lvl="0"/>
            <a:r>
              <a:rPr lang="en-US" sz="3600" b="1" dirty="0">
                <a:solidFill>
                  <a:schemeClr val="tx1"/>
                </a:solidFill>
              </a:rPr>
              <a:t>LITERATURE </a:t>
            </a:r>
            <a:r>
              <a:rPr lang="en-US" sz="3600" b="1" dirty="0" smtClean="0">
                <a:solidFill>
                  <a:schemeClr val="tx1"/>
                </a:solidFill>
              </a:rPr>
              <a:t>SURVEY:</a:t>
            </a:r>
            <a:endParaRPr lang="en-IN" sz="3600" dirty="0">
              <a:solidFill>
                <a:schemeClr val="tx1"/>
              </a:solidFill>
            </a:endParaRPr>
          </a:p>
        </p:txBody>
      </p:sp>
      <p:sp>
        <p:nvSpPr>
          <p:cNvPr id="3" name="Content Placeholder 2"/>
          <p:cNvSpPr>
            <a:spLocks noGrp="1"/>
          </p:cNvSpPr>
          <p:nvPr>
            <p:ph idx="1"/>
          </p:nvPr>
        </p:nvSpPr>
        <p:spPr>
          <a:xfrm>
            <a:off x="609600" y="1371600"/>
            <a:ext cx="8229600" cy="5105400"/>
          </a:xfrm>
        </p:spPr>
        <p:txBody>
          <a:bodyPr>
            <a:normAutofit fontScale="92500" lnSpcReduction="10000"/>
          </a:bodyPr>
          <a:lstStyle/>
          <a:p>
            <a:pPr algn="just"/>
            <a:r>
              <a:rPr lang="en-US" b="1" dirty="0">
                <a:latin typeface="Times New Roman" panose="02020603050405020304" pitchFamily="18" charset="0"/>
                <a:cs typeface="Times New Roman" panose="02020603050405020304" pitchFamily="18" charset="0"/>
              </a:rPr>
              <a:t>Title</a:t>
            </a:r>
            <a:r>
              <a:rPr lang="en-US" dirty="0">
                <a:latin typeface="Times New Roman" panose="02020603050405020304" pitchFamily="18" charset="0"/>
                <a:cs typeface="Times New Roman" panose="02020603050405020304" pitchFamily="18" charset="0"/>
              </a:rPr>
              <a:t>	  : Diabetes Diagnosis Using Machine Learning</a:t>
            </a:r>
            <a:endParaRPr lang="en-AU"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Author</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Boshra</a:t>
            </a:r>
            <a:r>
              <a:rPr lang="en-US" dirty="0">
                <a:latin typeface="Times New Roman" panose="02020603050405020304" pitchFamily="18" charset="0"/>
                <a:cs typeface="Times New Roman" panose="02020603050405020304" pitchFamily="18" charset="0"/>
              </a:rPr>
              <a:t> Farajollahi1, </a:t>
            </a:r>
            <a:r>
              <a:rPr lang="en-US" dirty="0" err="1">
                <a:latin typeface="Times New Roman" panose="02020603050405020304" pitchFamily="18" charset="0"/>
                <a:cs typeface="Times New Roman" panose="02020603050405020304" pitchFamily="18" charset="0"/>
              </a:rPr>
              <a:t>Maysam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Mehmannavaz</a:t>
            </a:r>
            <a:r>
              <a:rPr lang="en-US" dirty="0">
                <a:latin typeface="Times New Roman" panose="02020603050405020304" pitchFamily="18" charset="0"/>
                <a:cs typeface="Times New Roman" panose="02020603050405020304" pitchFamily="18" charset="0"/>
              </a:rPr>
              <a:t>, Hafez </a:t>
            </a:r>
            <a:r>
              <a:rPr lang="en-US" dirty="0" err="1">
                <a:latin typeface="Times New Roman" panose="02020603050405020304" pitchFamily="18" charset="0"/>
                <a:cs typeface="Times New Roman" panose="02020603050405020304" pitchFamily="18" charset="0"/>
              </a:rPr>
              <a:t>Mehrjoo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Fateme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Moghbeli</a:t>
            </a:r>
            <a:r>
              <a:rPr lang="en-US" dirty="0">
                <a:latin typeface="Times New Roman" panose="02020603050405020304" pitchFamily="18" charset="0"/>
                <a:cs typeface="Times New Roman" panose="02020603050405020304" pitchFamily="18" charset="0"/>
              </a:rPr>
              <a:t> , Mohammad </a:t>
            </a:r>
            <a:r>
              <a:rPr lang="en-US" dirty="0" err="1">
                <a:latin typeface="Times New Roman" panose="02020603050405020304" pitchFamily="18" charset="0"/>
                <a:cs typeface="Times New Roman" panose="02020603050405020304" pitchFamily="18" charset="0"/>
              </a:rPr>
              <a:t>Javad</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Sayadi</a:t>
            </a:r>
            <a:r>
              <a:rPr lang="en-US" dirty="0">
                <a:latin typeface="Times New Roman" panose="02020603050405020304" pitchFamily="18" charset="0"/>
                <a:cs typeface="Times New Roman" panose="02020603050405020304" pitchFamily="18" charset="0"/>
              </a:rPr>
              <a:t>.</a:t>
            </a:r>
            <a:endParaRPr lang="en-AU"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Year</a:t>
            </a:r>
            <a:r>
              <a:rPr lang="en-US" dirty="0">
                <a:latin typeface="Times New Roman" panose="02020603050405020304" pitchFamily="18" charset="0"/>
                <a:cs typeface="Times New Roman" panose="02020603050405020304" pitchFamily="18" charset="0"/>
              </a:rPr>
              <a:t>	 : 2021	</a:t>
            </a:r>
            <a:endParaRPr lang="en-AU"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Introduction: Diabetes is a disease associated with high levels of glucose in the blood. Diabetes make many kinds of complications, which also leads to a high rate of repeated admission of patients with diabetes. The aim of this study is to diagnose Diabetes with machine learning techniques. Material and Methods: The datasets of the article contain several medical predictor variables and one target variable, Outcome. Predictor variables includes the number of pregnancies the patient has had, their BMI, insulin level, age. The main objective of the machine learning models is to classify of the diabetes disease. Results: Six classifiers have been also adapted and compared their performance based on accuracy, F1-score, recall, precision and AUC. And Finally, </a:t>
            </a:r>
            <a:r>
              <a:rPr lang="en-US" dirty="0" err="1">
                <a:latin typeface="Times New Roman" panose="02020603050405020304" pitchFamily="18" charset="0"/>
                <a:cs typeface="Times New Roman" panose="02020603050405020304" pitchFamily="18" charset="0"/>
              </a:rPr>
              <a:t>Adaboost</a:t>
            </a:r>
            <a:r>
              <a:rPr lang="en-US" dirty="0">
                <a:latin typeface="Times New Roman" panose="02020603050405020304" pitchFamily="18" charset="0"/>
                <a:cs typeface="Times New Roman" panose="02020603050405020304" pitchFamily="18" charset="0"/>
              </a:rPr>
              <a:t> has the most accuracy 83%. Conclusion: In this paper a performance comparison of different classifier models for classifying diagnosis is done. The models considered for comparison are logistic regression, Decision Tree, support vector machine (SVM),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Random Forest and </a:t>
            </a:r>
            <a:r>
              <a:rPr lang="en-US" dirty="0" err="1">
                <a:latin typeface="Times New Roman" panose="02020603050405020304" pitchFamily="18" charset="0"/>
                <a:cs typeface="Times New Roman" panose="02020603050405020304" pitchFamily="18" charset="0"/>
              </a:rPr>
              <a:t>Adaboost</a:t>
            </a:r>
            <a:r>
              <a:rPr lang="en-US" dirty="0">
                <a:latin typeface="Times New Roman" panose="02020603050405020304" pitchFamily="18" charset="0"/>
                <a:cs typeface="Times New Roman" panose="02020603050405020304" pitchFamily="18" charset="0"/>
              </a:rPr>
              <a:t>. Finally, in the comparison flow, </a:t>
            </a:r>
            <a:r>
              <a:rPr lang="en-US" dirty="0" err="1">
                <a:latin typeface="Times New Roman" panose="02020603050405020304" pitchFamily="18" charset="0"/>
                <a:cs typeface="Times New Roman" panose="02020603050405020304" pitchFamily="18" charset="0"/>
              </a:rPr>
              <a:t>Adaboost</a:t>
            </a:r>
            <a:r>
              <a:rPr lang="en-US" dirty="0">
                <a:latin typeface="Times New Roman" panose="02020603050405020304" pitchFamily="18" charset="0"/>
                <a:cs typeface="Times New Roman" panose="02020603050405020304" pitchFamily="18" charset="0"/>
              </a:rPr>
              <a:t>, Logistic Regression, SVM and Random Forest, usually has had a high amount; and their amounts has little differences normally. </a:t>
            </a:r>
            <a:endParaRPr lang="en-A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07079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1943" y="228600"/>
            <a:ext cx="7680960" cy="1371600"/>
          </a:xfrm>
        </p:spPr>
        <p:txBody>
          <a:bodyPr/>
          <a:lstStyle/>
          <a:p>
            <a:r>
              <a:rPr lang="en-US" b="1" dirty="0">
                <a:solidFill>
                  <a:schemeClr val="tx1"/>
                </a:solidFill>
              </a:rPr>
              <a:t>LITERATURE SURVEY:</a:t>
            </a:r>
            <a:endParaRPr lang="en-IN" dirty="0"/>
          </a:p>
        </p:txBody>
      </p:sp>
      <p:sp>
        <p:nvSpPr>
          <p:cNvPr id="3" name="Content Placeholder 2"/>
          <p:cNvSpPr>
            <a:spLocks noGrp="1"/>
          </p:cNvSpPr>
          <p:nvPr>
            <p:ph idx="1"/>
          </p:nvPr>
        </p:nvSpPr>
        <p:spPr>
          <a:xfrm>
            <a:off x="457200" y="1676400"/>
            <a:ext cx="8305800" cy="5181600"/>
          </a:xfrm>
        </p:spPr>
        <p:txBody>
          <a:bodyPr>
            <a:noAutofit/>
          </a:bodyPr>
          <a:lstStyle/>
          <a:p>
            <a:pPr algn="just"/>
            <a:r>
              <a:rPr lang="en-US" sz="1600" b="1" dirty="0">
                <a:latin typeface="Times New Roman" panose="02020603050405020304" pitchFamily="18" charset="0"/>
                <a:cs typeface="Times New Roman" panose="02020603050405020304" pitchFamily="18" charset="0"/>
              </a:rPr>
              <a:t>Title</a:t>
            </a:r>
            <a:r>
              <a:rPr lang="en-US" sz="1600" dirty="0">
                <a:latin typeface="Times New Roman" panose="02020603050405020304" pitchFamily="18" charset="0"/>
                <a:cs typeface="Times New Roman" panose="02020603050405020304" pitchFamily="18" charset="0"/>
              </a:rPr>
              <a:t>: Prediction and Detection of Diabetes using Machine Learning.</a:t>
            </a:r>
            <a:endParaRPr lang="en-AU" sz="16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Author</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Olta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Llahaa</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Amarildo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Rista</a:t>
            </a:r>
            <a:endParaRPr lang="en-AU" sz="16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Year</a:t>
            </a:r>
            <a:r>
              <a:rPr lang="en-US" sz="1600" dirty="0">
                <a:latin typeface="Times New Roman" panose="02020603050405020304" pitchFamily="18" charset="0"/>
                <a:cs typeface="Times New Roman" panose="02020603050405020304" pitchFamily="18" charset="0"/>
              </a:rPr>
              <a:t>	 : 2021	</a:t>
            </a:r>
            <a:endParaRPr lang="en-AU"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Data mining and machine learning have become a vital part of different disease detection and prevention. One of them is diabetes. The purpose of this paper is to evaluate data mining methods and their performances that can be used for analyzing the collected data about the diabetes. We identified the most appropriate data mining methods to analyze the data by comparing them theoretically and practically. Some attributes of this dataset are: Age, Body Mass Index, Insulin, Glucose, etc. Methods are applied on these data to determine their effectiveness in analyzing and preventing diabetes. Evaluations on the data showed that the method with a higher performance is “Decision Tree”. This was achieved by some performance measures, such as the number of instances correctly classified, accuracy, precision, recall and F-measure, that has brought better results compared to other methods. We come to the conclusion that the data mining methods and machine learning contribute to the predictions on the possibility of occurrence of the diabetes.</a:t>
            </a:r>
            <a:endParaRPr lang="en-AU"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562088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9099"/>
            <a:ext cx="7680960" cy="1371600"/>
          </a:xfrm>
        </p:spPr>
        <p:txBody>
          <a:bodyPr/>
          <a:lstStyle/>
          <a:p>
            <a:r>
              <a:rPr lang="en-US" b="1" dirty="0">
                <a:solidFill>
                  <a:schemeClr val="tx1"/>
                </a:solidFill>
              </a:rPr>
              <a:t>LITERATURE SURVEY:</a:t>
            </a:r>
            <a:endParaRPr lang="en-IN" dirty="0"/>
          </a:p>
        </p:txBody>
      </p:sp>
      <p:sp>
        <p:nvSpPr>
          <p:cNvPr id="3" name="Content Placeholder 2"/>
          <p:cNvSpPr>
            <a:spLocks noGrp="1"/>
          </p:cNvSpPr>
          <p:nvPr>
            <p:ph idx="1"/>
          </p:nvPr>
        </p:nvSpPr>
        <p:spPr>
          <a:xfrm>
            <a:off x="228600" y="1380699"/>
            <a:ext cx="8458200" cy="5181600"/>
          </a:xfrm>
        </p:spPr>
        <p:txBody>
          <a:bodyPr>
            <a:noAutofit/>
          </a:bodyPr>
          <a:lstStyle/>
          <a:p>
            <a:r>
              <a:rPr lang="en-US" b="1" dirty="0">
                <a:latin typeface="Times New Roman" panose="02020603050405020304" pitchFamily="18" charset="0"/>
                <a:cs typeface="Times New Roman" panose="02020603050405020304" pitchFamily="18" charset="0"/>
              </a:rPr>
              <a:t>Title</a:t>
            </a:r>
            <a:r>
              <a:rPr lang="en-US" dirty="0">
                <a:latin typeface="Times New Roman" panose="02020603050405020304" pitchFamily="18" charset="0"/>
                <a:cs typeface="Times New Roman" panose="02020603050405020304" pitchFamily="18" charset="0"/>
              </a:rPr>
              <a:t>	  : Diabetic Diagnosis Using Machine Learning as well as Deep Learning Techniques.</a:t>
            </a:r>
            <a:endParaRPr lang="en-AU"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Author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Somendra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Tripathi</a:t>
            </a:r>
            <a:r>
              <a:rPr lang="en-US" dirty="0">
                <a:latin typeface="Times New Roman" panose="02020603050405020304" pitchFamily="18" charset="0"/>
                <a:cs typeface="Times New Roman" panose="02020603050405020304" pitchFamily="18" charset="0"/>
              </a:rPr>
              <a:t>, Hari Om Sharan, C. S. </a:t>
            </a:r>
            <a:r>
              <a:rPr lang="en-US" dirty="0" err="1">
                <a:latin typeface="Times New Roman" panose="02020603050405020304" pitchFamily="18" charset="0"/>
                <a:cs typeface="Times New Roman" panose="02020603050405020304" pitchFamily="18" charset="0"/>
              </a:rPr>
              <a:t>Raghuvanshi</a:t>
            </a:r>
            <a:r>
              <a:rPr lang="en-US" dirty="0">
                <a:latin typeface="Times New Roman" panose="02020603050405020304" pitchFamily="18" charset="0"/>
                <a:cs typeface="Times New Roman" panose="02020603050405020304" pitchFamily="18" charset="0"/>
              </a:rPr>
              <a:t> </a:t>
            </a:r>
            <a:endParaRPr lang="en-AU"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Year</a:t>
            </a:r>
            <a:r>
              <a:rPr lang="en-US" dirty="0">
                <a:latin typeface="Times New Roman" panose="02020603050405020304" pitchFamily="18" charset="0"/>
                <a:cs typeface="Times New Roman" panose="02020603050405020304" pitchFamily="18" charset="0"/>
              </a:rPr>
              <a:t>	 : 2023</a:t>
            </a:r>
            <a:endParaRPr lang="en-AU"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 growing incidence of Type II diabetes worldwide has prompted the medical industry to explore solutions for enhancing their medical technology. The fields of machine learning and deep learning are now being actively researched for the development of intelligent and efficient methods for detecting diabetes. This research thoroughly examines and explores the effects of the most recent machine learning and deep learning methods on the detection and categorization of diabetes. The accessibility of diabetes statistics is noted to be restricted. The databases consist of measures obtained from laboratory-based tests and invasive procedures. To develop an efficient solution that is both cost-effective and high-performing, it is necessary to do research on anthropometric measures and non-invasive examinations. Multiple studies have shown the potential to develop detection models using anthropometric measures and non-invasive medical indications. This research examined the effects of oversampling strategies and data decrease in dimensionality via the selection of features.</a:t>
            </a:r>
            <a:endParaRPr lang="en-A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20848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75146"/>
            <a:ext cx="7680960" cy="1371600"/>
          </a:xfrm>
        </p:spPr>
        <p:txBody>
          <a:bodyPr/>
          <a:lstStyle/>
          <a:p>
            <a:r>
              <a:rPr lang="en-US" b="1" dirty="0">
                <a:solidFill>
                  <a:schemeClr val="tx1"/>
                </a:solidFill>
              </a:rPr>
              <a:t>LITERATURE SURVEY:</a:t>
            </a:r>
            <a:endParaRPr lang="en-IN" dirty="0"/>
          </a:p>
        </p:txBody>
      </p:sp>
      <p:sp>
        <p:nvSpPr>
          <p:cNvPr id="3" name="Content Placeholder 2"/>
          <p:cNvSpPr>
            <a:spLocks noGrp="1"/>
          </p:cNvSpPr>
          <p:nvPr>
            <p:ph idx="1"/>
          </p:nvPr>
        </p:nvSpPr>
        <p:spPr>
          <a:xfrm>
            <a:off x="457200" y="1524000"/>
            <a:ext cx="8001000" cy="4876800"/>
          </a:xfrm>
        </p:spPr>
        <p:txBody>
          <a:bodyPr>
            <a:normAutofit fontScale="92500" lnSpcReduction="10000"/>
          </a:bodyPr>
          <a:lstStyle/>
          <a:p>
            <a:pPr algn="just"/>
            <a:r>
              <a:rPr lang="en-US" b="1" dirty="0">
                <a:latin typeface="Times New Roman" panose="02020603050405020304" pitchFamily="18" charset="0"/>
                <a:cs typeface="Times New Roman" panose="02020603050405020304" pitchFamily="18" charset="0"/>
              </a:rPr>
              <a:t>Title</a:t>
            </a:r>
            <a:r>
              <a:rPr lang="en-US" dirty="0">
                <a:latin typeface="Times New Roman" panose="02020603050405020304" pitchFamily="18" charset="0"/>
                <a:cs typeface="Times New Roman" panose="02020603050405020304" pitchFamily="18" charset="0"/>
              </a:rPr>
              <a:t>	  : Diabetes Prediction using Machine Learning Techniques</a:t>
            </a:r>
            <a:endParaRPr lang="en-AU"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Author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Mitushi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SonI</a:t>
            </a:r>
            <a:r>
              <a:rPr lang="en-US" dirty="0">
                <a:latin typeface="Times New Roman" panose="02020603050405020304" pitchFamily="18" charset="0"/>
                <a:cs typeface="Times New Roman" panose="02020603050405020304" pitchFamily="18" charset="0"/>
              </a:rPr>
              <a:t>, Dr. </a:t>
            </a:r>
            <a:r>
              <a:rPr lang="en-US" dirty="0" err="1">
                <a:latin typeface="Times New Roman" panose="02020603050405020304" pitchFamily="18" charset="0"/>
                <a:cs typeface="Times New Roman" panose="02020603050405020304" pitchFamily="18" charset="0"/>
              </a:rPr>
              <a:t>Sunita</a:t>
            </a:r>
            <a:r>
              <a:rPr lang="en-US" dirty="0">
                <a:latin typeface="Times New Roman" panose="02020603050405020304" pitchFamily="18" charset="0"/>
                <a:cs typeface="Times New Roman" panose="02020603050405020304" pitchFamily="18" charset="0"/>
              </a:rPr>
              <a:t> Varma</a:t>
            </a:r>
            <a:endParaRPr lang="en-AU"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Year</a:t>
            </a:r>
            <a:r>
              <a:rPr lang="en-US" dirty="0">
                <a:latin typeface="Times New Roman" panose="02020603050405020304" pitchFamily="18" charset="0"/>
                <a:cs typeface="Times New Roman" panose="02020603050405020304" pitchFamily="18" charset="0"/>
              </a:rPr>
              <a:t>	 : 2020	</a:t>
            </a:r>
            <a:endParaRPr lang="en-AU"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Diabetes is an illness caused because of high glucose level in a human body. Diabetes should not be ignored if it is untreated then Diabetes may cause some major issues in a person like: heart related problems, kidney problem, blood pressure, eye damage and it can also affects other organs of human body. Diabetes can be controlled if it is predicted earlier. To achieve this goal this project work we will do early prediction of Diabetes in a human body or a patient for a higher accuracy through applying, Various Machine Learning Techniques. Machine learning techniques Provide better result for prediction by constructing models from datasets collected from patients. In this work we will use Machine Learning Classification and ensemble techniques on a dataset to predict diabetes. Which are K-Nearest Neighbor (KNN), Logistic Regression (LR), Decision Tree (DT), Support Vector Machine (SVM), Gradient Boosting (GB) and Random Forest (RF). The accuracy is different for every model when compared to other models. The Project work gives the accurate or higher accuracy model shows that the model is capable of predicting diabetes effectively. Our Result shows that Random Forest achieved higher accuracy compared to other machine learning techniques.</a:t>
            </a:r>
            <a:endParaRPr lang="en-A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613514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olidFill>
                  <a:schemeClr val="tx1"/>
                </a:solidFill>
              </a:rPr>
              <a:t>LITERATURE SURVEY:</a:t>
            </a:r>
            <a:endParaRPr lang="en-IN" dirty="0"/>
          </a:p>
        </p:txBody>
      </p:sp>
      <p:sp>
        <p:nvSpPr>
          <p:cNvPr id="3" name="Content Placeholder 2"/>
          <p:cNvSpPr>
            <a:spLocks noGrp="1"/>
          </p:cNvSpPr>
          <p:nvPr>
            <p:ph idx="1"/>
          </p:nvPr>
        </p:nvSpPr>
        <p:spPr>
          <a:xfrm>
            <a:off x="152400" y="1676400"/>
            <a:ext cx="8839200" cy="5181599"/>
          </a:xfrm>
        </p:spPr>
        <p:txBody>
          <a:bodyPr>
            <a:noAutofit/>
          </a:bodyPr>
          <a:lstStyle/>
          <a:p>
            <a:pPr algn="just"/>
            <a:r>
              <a:rPr lang="en-US" sz="1200" b="1" dirty="0">
                <a:latin typeface="Times New Roman" panose="02020603050405020304" pitchFamily="18" charset="0"/>
                <a:cs typeface="Times New Roman" panose="02020603050405020304" pitchFamily="18" charset="0"/>
              </a:rPr>
              <a:t>Title</a:t>
            </a:r>
            <a:r>
              <a:rPr lang="en-US" sz="1200" dirty="0">
                <a:latin typeface="Times New Roman" panose="02020603050405020304" pitchFamily="18" charset="0"/>
                <a:cs typeface="Times New Roman" panose="02020603050405020304" pitchFamily="18" charset="0"/>
              </a:rPr>
              <a:t>	  : Machine Learning for Early Diabetes Detection and Diagnosis</a:t>
            </a:r>
            <a:endParaRPr lang="en-AU" sz="1200" dirty="0">
              <a:latin typeface="Times New Roman" panose="02020603050405020304" pitchFamily="18" charset="0"/>
              <a:cs typeface="Times New Roman" panose="02020603050405020304" pitchFamily="18" charset="0"/>
            </a:endParaRPr>
          </a:p>
          <a:p>
            <a:pPr algn="just"/>
            <a:r>
              <a:rPr lang="en-US" sz="1200" b="1" dirty="0">
                <a:latin typeface="Times New Roman" panose="02020603050405020304" pitchFamily="18" charset="0"/>
                <a:cs typeface="Times New Roman" panose="02020603050405020304" pitchFamily="18" charset="0"/>
              </a:rPr>
              <a:t>Author</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Sofiene</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Mansouri</a:t>
            </a:r>
            <a:r>
              <a:rPr lang="en-US" sz="1200" dirty="0">
                <a:latin typeface="Times New Roman" panose="02020603050405020304" pitchFamily="18" charset="0"/>
                <a:cs typeface="Times New Roman" panose="02020603050405020304" pitchFamily="18" charset="0"/>
              </a:rPr>
              <a:t> , </a:t>
            </a:r>
            <a:r>
              <a:rPr lang="en-US" sz="1200" dirty="0" err="1">
                <a:latin typeface="Times New Roman" panose="02020603050405020304" pitchFamily="18" charset="0"/>
                <a:cs typeface="Times New Roman" panose="02020603050405020304" pitchFamily="18" charset="0"/>
              </a:rPr>
              <a:t>Souhaila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Boulares</a:t>
            </a:r>
            <a:r>
              <a:rPr lang="en-US" sz="1200" dirty="0">
                <a:latin typeface="Times New Roman" panose="02020603050405020304" pitchFamily="18" charset="0"/>
                <a:cs typeface="Times New Roman" panose="02020603050405020304" pitchFamily="18" charset="0"/>
              </a:rPr>
              <a:t> , and </a:t>
            </a:r>
            <a:r>
              <a:rPr lang="en-US" sz="1200" dirty="0" err="1">
                <a:latin typeface="Times New Roman" panose="02020603050405020304" pitchFamily="18" charset="0"/>
                <a:cs typeface="Times New Roman" panose="02020603050405020304" pitchFamily="18" charset="0"/>
              </a:rPr>
              <a:t>Souhir</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Chabchoub</a:t>
            </a:r>
            <a:endParaRPr lang="en-AU"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Year</a:t>
            </a:r>
            <a:r>
              <a:rPr lang="en-US" sz="1200" dirty="0">
                <a:latin typeface="Times New Roman" panose="02020603050405020304" pitchFamily="18" charset="0"/>
                <a:cs typeface="Times New Roman" panose="02020603050405020304" pitchFamily="18" charset="0"/>
              </a:rPr>
              <a:t>	 : 2023	</a:t>
            </a:r>
            <a:endParaRPr lang="en-AU"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In this work, a machine learning (ML)-based e-diagnostic system is suggested specifically for the detection of gestational diabetes mellitus (GDM). Reviewing recent GDM data and outlining the intimate connection between GDM and </a:t>
            </a:r>
            <a:r>
              <a:rPr lang="en-US" sz="1200" dirty="0" err="1">
                <a:latin typeface="Times New Roman" panose="02020603050405020304" pitchFamily="18" charset="0"/>
                <a:cs typeface="Times New Roman" panose="02020603050405020304" pitchFamily="18" charset="0"/>
              </a:rPr>
              <a:t>prediabetic</a:t>
            </a:r>
            <a:r>
              <a:rPr lang="en-US" sz="1200" dirty="0">
                <a:latin typeface="Times New Roman" panose="02020603050405020304" pitchFamily="18" charset="0"/>
                <a:cs typeface="Times New Roman" panose="02020603050405020304" pitchFamily="18" charset="0"/>
              </a:rPr>
              <a:t> conditions, as well as the potential for future declines in insulin resistance and the emergence of overt Type 2 diabetes, were our goals. The present study explores the application of the K-nearest neighbors (KNN) algorithm to project diabetes diagnosis on the widely-used Pima Indians Diabetes database. The KNN algorithm, a non-parametric, instance-based learning method, was employed to classify individuals as either diabetic or non-diabetic, our objectives were to evaluate the algorithm’s ability to make accurate predictions and explore factors influencing its performance. The study commenced with data preprocessing, including handling missing values, feature scaling, and data splitting into training and testing sets. The KNN classifier was trained and tested using these best-fit parameters. The results of this study revealed a model with an accuracy of approximately 0.76 in predicting diabetes diagnosis. This study looked at the various machine-learning approaches for diabetes patient classification, including recall, accuracy, precision, and F1-score. The study discusses the significance of </a:t>
            </a:r>
            <a:r>
              <a:rPr lang="en-US" sz="1200" dirty="0" err="1">
                <a:latin typeface="Times New Roman" panose="02020603050405020304" pitchFamily="18" charset="0"/>
                <a:cs typeface="Times New Roman" panose="02020603050405020304" pitchFamily="18" charset="0"/>
              </a:rPr>
              <a:t>hyperparameter</a:t>
            </a:r>
            <a:r>
              <a:rPr lang="en-US" sz="1200" dirty="0">
                <a:latin typeface="Times New Roman" panose="02020603050405020304" pitchFamily="18" charset="0"/>
                <a:cs typeface="Times New Roman" panose="02020603050405020304" pitchFamily="18" charset="0"/>
              </a:rPr>
              <a:t> tuning, data preprocessing, and imbalanced data handling in achieving optimal KNN model performance. Lastly, this study shows how the KNN algorithm may be used to project diabetes using the Pima Indians Diabetes Database. The findings suggest that KNN can serve as a viable tool in the early detection of diabetes, paving the way for more extensive applications in healthcare and predictive modelling</a:t>
            </a:r>
            <a:r>
              <a:rPr lang="en-US" sz="1400" dirty="0">
                <a:latin typeface="Times New Roman" panose="02020603050405020304" pitchFamily="18" charset="0"/>
                <a:cs typeface="Times New Roman" panose="02020603050405020304" pitchFamily="18" charset="0"/>
              </a:rPr>
              <a:t>.</a:t>
            </a:r>
            <a:endParaRPr lang="en-AU"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086658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7620000" cy="1143000"/>
          </a:xfrm>
        </p:spPr>
        <p:txBody>
          <a:bodyPr/>
          <a:lstStyle/>
          <a:p>
            <a:r>
              <a:rPr lang="en-US" sz="3200" dirty="0" smtClean="0">
                <a:solidFill>
                  <a:schemeClr val="tx1"/>
                </a:solidFill>
              </a:rPr>
              <a:t> </a:t>
            </a:r>
            <a:r>
              <a:rPr lang="en-US" sz="3200" b="1" dirty="0">
                <a:solidFill>
                  <a:schemeClr val="tx1"/>
                </a:solidFill>
              </a:rPr>
              <a:t>SYSTEM </a:t>
            </a:r>
            <a:r>
              <a:rPr lang="en-US" sz="3200" b="1" dirty="0" smtClean="0">
                <a:solidFill>
                  <a:schemeClr val="tx1"/>
                </a:solidFill>
              </a:rPr>
              <a:t>STUDY:</a:t>
            </a:r>
            <a:endParaRPr lang="en-IN" sz="3200" dirty="0">
              <a:solidFill>
                <a:schemeClr val="tx1"/>
              </a:solidFill>
            </a:endParaRPr>
          </a:p>
        </p:txBody>
      </p:sp>
      <p:sp>
        <p:nvSpPr>
          <p:cNvPr id="3" name="Content Placeholder 2"/>
          <p:cNvSpPr>
            <a:spLocks noGrp="1"/>
          </p:cNvSpPr>
          <p:nvPr>
            <p:ph idx="1"/>
          </p:nvPr>
        </p:nvSpPr>
        <p:spPr>
          <a:xfrm>
            <a:off x="457200" y="1295400"/>
            <a:ext cx="7620000" cy="5334000"/>
          </a:xfrm>
        </p:spPr>
        <p:txBody>
          <a:bodyPr>
            <a:normAutofit/>
          </a:bodyPr>
          <a:lstStyle/>
          <a:p>
            <a:pPr marL="114300" indent="0">
              <a:buNone/>
            </a:pPr>
            <a:r>
              <a:rPr lang="en-US" b="1" dirty="0"/>
              <a:t>Project Goals</a:t>
            </a:r>
            <a:r>
              <a:rPr lang="en-US" b="1" dirty="0" smtClean="0"/>
              <a:t>:</a:t>
            </a:r>
          </a:p>
          <a:p>
            <a:pPr marL="114300" lvl="0" indent="0">
              <a:buNone/>
            </a:pPr>
            <a:r>
              <a:rPr lang="en-US" dirty="0"/>
              <a:t>Load the data</a:t>
            </a:r>
            <a:endParaRPr lang="en-IN" dirty="0"/>
          </a:p>
          <a:p>
            <a:pPr lvl="0"/>
            <a:r>
              <a:rPr lang="en-US" dirty="0"/>
              <a:t>Loading the given dataset</a:t>
            </a:r>
            <a:endParaRPr lang="en-IN" dirty="0"/>
          </a:p>
          <a:p>
            <a:pPr lvl="0"/>
            <a:r>
              <a:rPr lang="en-US" dirty="0"/>
              <a:t>Import required libraries packages</a:t>
            </a:r>
            <a:endParaRPr lang="en-IN" dirty="0"/>
          </a:p>
          <a:p>
            <a:pPr marL="114300" lvl="0" indent="0">
              <a:buNone/>
            </a:pPr>
            <a:r>
              <a:rPr lang="en-US" b="1" dirty="0"/>
              <a:t>Pre-process the data</a:t>
            </a:r>
            <a:endParaRPr lang="en-IN" b="1" dirty="0"/>
          </a:p>
          <a:p>
            <a:pPr lvl="0"/>
            <a:r>
              <a:rPr lang="en-US" dirty="0"/>
              <a:t>Reshape, data augmentations</a:t>
            </a:r>
            <a:endParaRPr lang="en-IN" dirty="0"/>
          </a:p>
          <a:p>
            <a:pPr marL="114300" lvl="0" indent="0">
              <a:buNone/>
            </a:pPr>
            <a:r>
              <a:rPr lang="en-US" b="1" dirty="0"/>
              <a:t>Define model</a:t>
            </a:r>
            <a:endParaRPr lang="en-IN" b="1" dirty="0"/>
          </a:p>
          <a:p>
            <a:pPr lvl="0"/>
            <a:r>
              <a:rPr lang="en-US" dirty="0"/>
              <a:t>Sequential or Functional</a:t>
            </a:r>
            <a:endParaRPr lang="en-IN" dirty="0"/>
          </a:p>
          <a:p>
            <a:pPr lvl="0"/>
            <a:r>
              <a:rPr lang="en-US" dirty="0"/>
              <a:t>Number of layers to be used, Number of nodes to be used in the model, Evaluation metrics</a:t>
            </a:r>
            <a:endParaRPr lang="en-IN" dirty="0"/>
          </a:p>
          <a:p>
            <a:pPr marL="114300" lvl="0" indent="0">
              <a:buNone/>
            </a:pPr>
            <a:r>
              <a:rPr lang="en-US" b="1" dirty="0"/>
              <a:t>Compile the model</a:t>
            </a:r>
            <a:endParaRPr lang="en-IN" b="1" dirty="0"/>
          </a:p>
          <a:p>
            <a:pPr lvl="0"/>
            <a:r>
              <a:rPr lang="en-US" dirty="0"/>
              <a:t>Define loss function, optimizer, weights and bias</a:t>
            </a:r>
            <a:endParaRPr lang="en-IN" dirty="0"/>
          </a:p>
          <a:p>
            <a:pPr marL="114300" lvl="0" indent="0">
              <a:buNone/>
            </a:pPr>
            <a:r>
              <a:rPr lang="en-US" b="1" dirty="0"/>
              <a:t>Fit the model</a:t>
            </a:r>
            <a:endParaRPr lang="en-IN" b="1" dirty="0"/>
          </a:p>
          <a:p>
            <a:pPr lvl="0"/>
            <a:r>
              <a:rPr lang="en-US" dirty="0"/>
              <a:t>Train data, Test data, epoch, </a:t>
            </a:r>
            <a:r>
              <a:rPr lang="en-US" dirty="0" err="1"/>
              <a:t>Batchsize</a:t>
            </a:r>
            <a:r>
              <a:rPr lang="en-US" dirty="0"/>
              <a:t>.</a:t>
            </a:r>
            <a:endParaRPr lang="en-IN" dirty="0"/>
          </a:p>
          <a:p>
            <a:pPr marL="114300" indent="0">
              <a:buNone/>
            </a:pPr>
            <a:endParaRPr lang="en-IN" dirty="0"/>
          </a:p>
        </p:txBody>
      </p:sp>
    </p:spTree>
    <p:extLst>
      <p:ext uri="{BB962C8B-B14F-4D97-AF65-F5344CB8AC3E}">
        <p14:creationId xmlns:p14="http://schemas.microsoft.com/office/powerpoint/2010/main" val="58037016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0"/>
            <a:ext cx="7620000" cy="4953000"/>
          </a:xfrm>
        </p:spPr>
        <p:txBody>
          <a:bodyPr>
            <a:normAutofit fontScale="92500" lnSpcReduction="20000"/>
          </a:bodyPr>
          <a:lstStyle/>
          <a:p>
            <a:pPr marL="114300" indent="0" algn="just">
              <a:buNone/>
            </a:pPr>
            <a:r>
              <a:rPr lang="en-US" sz="2800" b="1" dirty="0" smtClean="0">
                <a:latin typeface="Times New Roman" panose="02020603050405020304" pitchFamily="18" charset="0"/>
                <a:cs typeface="Times New Roman" panose="02020603050405020304" pitchFamily="18" charset="0"/>
              </a:rPr>
              <a:t>Aim:</a:t>
            </a:r>
            <a:endParaRPr lang="en-IN" sz="2800" b="1" i="1"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 aim of this project is to enhance the accuracy and efficiency of diabetic diagnosis by leveraging Convolutional Neural Network (CNN) architectures and advanced machine learning prediction techniques. By analyzing medical imaging and patient data, the system seeks to identify diabetic conditions at an early stage, improving patient outcomes and reducing the burden on healthcare systems. This innovative approach aims to integrate seamlessly with existing medical practices, providing clinicians with reliable diagnostic tools. Ultimately, the goal is to contribute to better management and treatment of diabetes through cutting-edge AI technology</a:t>
            </a:r>
            <a:r>
              <a:rPr lang="en-US" sz="2000" dirty="0" smtClean="0">
                <a:latin typeface="Times New Roman" panose="02020603050405020304" pitchFamily="18" charset="0"/>
                <a:cs typeface="Times New Roman" panose="02020603050405020304" pitchFamily="18" charset="0"/>
              </a:rPr>
              <a:t>.</a:t>
            </a:r>
          </a:p>
          <a:p>
            <a:pPr algn="just"/>
            <a:r>
              <a:rPr lang="en-US" sz="2400" b="1" dirty="0">
                <a:latin typeface="Times New Roman" panose="02020603050405020304" pitchFamily="18" charset="0"/>
                <a:cs typeface="Times New Roman" panose="02020603050405020304" pitchFamily="18" charset="0"/>
              </a:rPr>
              <a:t>Objectives:	</a:t>
            </a:r>
            <a:endParaRPr lang="en-AU"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a:t>
            </a:r>
            <a:r>
              <a:rPr lang="en-AU" sz="2400" dirty="0">
                <a:latin typeface="Times New Roman" panose="02020603050405020304" pitchFamily="18" charset="0"/>
                <a:cs typeface="Times New Roman" panose="02020603050405020304" pitchFamily="18" charset="0"/>
              </a:rPr>
              <a:t>Develop a robust Convolutional Neural Network (CNN) model to accurately diagnose diabetes by </a:t>
            </a:r>
            <a:r>
              <a:rPr lang="en-AU" sz="2400" dirty="0" err="1">
                <a:latin typeface="Times New Roman" panose="02020603050405020304" pitchFamily="18" charset="0"/>
                <a:cs typeface="Times New Roman" panose="02020603050405020304" pitchFamily="18" charset="0"/>
              </a:rPr>
              <a:t>analyzing</a:t>
            </a:r>
            <a:r>
              <a:rPr lang="en-AU" sz="2400" dirty="0">
                <a:latin typeface="Times New Roman" panose="02020603050405020304" pitchFamily="18" charset="0"/>
                <a:cs typeface="Times New Roman" panose="02020603050405020304" pitchFamily="18" charset="0"/>
              </a:rPr>
              <a:t> medical images and patient </a:t>
            </a:r>
            <a:r>
              <a:rPr lang="en-AU" sz="2400" dirty="0" err="1">
                <a:latin typeface="Times New Roman" panose="02020603050405020304" pitchFamily="18" charset="0"/>
                <a:cs typeface="Times New Roman" panose="02020603050405020304" pitchFamily="18" charset="0"/>
              </a:rPr>
              <a:t>data.Integrate</a:t>
            </a:r>
            <a:r>
              <a:rPr lang="en-AU" sz="2400" dirty="0">
                <a:latin typeface="Times New Roman" panose="02020603050405020304" pitchFamily="18" charset="0"/>
                <a:cs typeface="Times New Roman" panose="02020603050405020304" pitchFamily="18" charset="0"/>
              </a:rPr>
              <a:t> machine learning prediction techniques to enhance the precision and reliability of diabetic </a:t>
            </a:r>
            <a:r>
              <a:rPr lang="en-AU" sz="2400" dirty="0" err="1">
                <a:latin typeface="Times New Roman" panose="02020603050405020304" pitchFamily="18" charset="0"/>
                <a:cs typeface="Times New Roman" panose="02020603050405020304" pitchFamily="18" charset="0"/>
              </a:rPr>
              <a:t>diagnosis.Leverage</a:t>
            </a:r>
            <a:r>
              <a:rPr lang="en-AU" sz="2400" dirty="0">
                <a:latin typeface="Times New Roman" panose="02020603050405020304" pitchFamily="18" charset="0"/>
                <a:cs typeface="Times New Roman" panose="02020603050405020304" pitchFamily="18" charset="0"/>
              </a:rPr>
              <a:t> advanced algorithms to identify early signs of diabetes, facilitating timely and effective intervention.</a:t>
            </a:r>
          </a:p>
        </p:txBody>
      </p:sp>
      <p:sp>
        <p:nvSpPr>
          <p:cNvPr id="2" name="Rectangle 1"/>
          <p:cNvSpPr/>
          <p:nvPr/>
        </p:nvSpPr>
        <p:spPr>
          <a:xfrm>
            <a:off x="1371600" y="533400"/>
            <a:ext cx="3056350" cy="523220"/>
          </a:xfrm>
          <a:prstGeom prst="rect">
            <a:avLst/>
          </a:prstGeom>
        </p:spPr>
        <p:txBody>
          <a:bodyPr wrap="none">
            <a:spAutoFit/>
          </a:bodyPr>
          <a:lstStyle/>
          <a:p>
            <a:r>
              <a:rPr lang="en-US" sz="2800" b="1" dirty="0">
                <a:latin typeface="Times New Roman" panose="02020603050405020304" pitchFamily="18" charset="0"/>
                <a:cs typeface="Times New Roman" panose="02020603050405020304" pitchFamily="18" charset="0"/>
              </a:rPr>
              <a:t>SYSTEM STUDY:</a:t>
            </a:r>
            <a:endParaRPr lang="en-AU"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972556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SYSTEM STUDY:</a:t>
            </a:r>
            <a:r>
              <a:rPr lang="en-AU" dirty="0">
                <a:solidFill>
                  <a:schemeClr val="tx1"/>
                </a:solidFill>
                <a:latin typeface="Times New Roman" panose="02020603050405020304" pitchFamily="18" charset="0"/>
                <a:cs typeface="Times New Roman" panose="02020603050405020304" pitchFamily="18" charset="0"/>
              </a:rPr>
              <a:t/>
            </a:r>
            <a:br>
              <a:rPr lang="en-AU" dirty="0">
                <a:solidFill>
                  <a:schemeClr val="tx1"/>
                </a:solidFill>
                <a:latin typeface="Times New Roman" panose="02020603050405020304" pitchFamily="18" charset="0"/>
                <a:cs typeface="Times New Roman" panose="02020603050405020304" pitchFamily="18" charset="0"/>
              </a:rPr>
            </a:br>
            <a:endParaRPr lang="en-AU" dirty="0">
              <a:solidFill>
                <a:schemeClr val="tx1"/>
              </a:solidFill>
            </a:endParaRPr>
          </a:p>
        </p:txBody>
      </p:sp>
      <p:sp>
        <p:nvSpPr>
          <p:cNvPr id="3" name="Content Placeholder 2"/>
          <p:cNvSpPr>
            <a:spLocks noGrp="1"/>
          </p:cNvSpPr>
          <p:nvPr>
            <p:ph idx="1"/>
          </p:nvPr>
        </p:nvSpPr>
        <p:spPr/>
        <p:txBody>
          <a:bodyPr>
            <a:normAutofit/>
          </a:bodyPr>
          <a:lstStyle/>
          <a:p>
            <a:pPr algn="just"/>
            <a:r>
              <a:rPr lang="en-US" b="1" dirty="0">
                <a:latin typeface="Times New Roman" panose="02020603050405020304" pitchFamily="18" charset="0"/>
                <a:cs typeface="Times New Roman" panose="02020603050405020304" pitchFamily="18" charset="0"/>
              </a:rPr>
              <a:t>Scope:</a:t>
            </a:r>
            <a:endParaRPr lang="en-AU"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project aims to revolutionize diabetic diagnosis by leveraging Convolutional Neural Network (CNN) architectures and machine learning techniques to accurately predict and classify diabetic conditions. By analyzing medical imaging and patient data, the system enhances early detection and treatment planning. The integration with machine learning models allows for continuous improvement in prediction accuracy and diagnostic precision. This innovative approach promises to provide healthcare professionals with powerful tools for more effective diabetes management and patient care.</a:t>
            </a:r>
            <a:endParaRPr lang="en-AU" dirty="0">
              <a:latin typeface="Times New Roman" panose="02020603050405020304" pitchFamily="18" charset="0"/>
              <a:cs typeface="Times New Roman" panose="02020603050405020304" pitchFamily="18" charset="0"/>
            </a:endParaRPr>
          </a:p>
          <a:p>
            <a:endParaRPr lang="en-AU" dirty="0"/>
          </a:p>
        </p:txBody>
      </p:sp>
    </p:spTree>
    <p:extLst>
      <p:ext uri="{BB962C8B-B14F-4D97-AF65-F5344CB8AC3E}">
        <p14:creationId xmlns:p14="http://schemas.microsoft.com/office/powerpoint/2010/main" val="17610252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OUTLINE OF THE PROJECT</a:t>
            </a:r>
            <a:endParaRPr lang="en-IN" dirty="0"/>
          </a:p>
        </p:txBody>
      </p:sp>
      <p:sp>
        <p:nvSpPr>
          <p:cNvPr id="3" name="Content Placeholder 2"/>
          <p:cNvSpPr>
            <a:spLocks noGrp="1"/>
          </p:cNvSpPr>
          <p:nvPr>
            <p:ph idx="1"/>
          </p:nvPr>
        </p:nvSpPr>
        <p:spPr>
          <a:xfrm>
            <a:off x="457200" y="1496695"/>
            <a:ext cx="7620000" cy="4800600"/>
          </a:xfrm>
        </p:spPr>
        <p:txBody>
          <a:bodyPr/>
          <a:lstStyle/>
          <a:p>
            <a:pPr marL="114300" indent="0">
              <a:buNone/>
            </a:pPr>
            <a:r>
              <a:rPr lang="en-US" dirty="0" smtClean="0"/>
              <a:t> </a:t>
            </a:r>
            <a:endParaRPr lang="en-IN" dirty="0"/>
          </a:p>
        </p:txBody>
      </p:sp>
      <p:sp>
        <p:nvSpPr>
          <p:cNvPr id="4" name="Rounded Rectangle 3"/>
          <p:cNvSpPr/>
          <p:nvPr/>
        </p:nvSpPr>
        <p:spPr>
          <a:xfrm>
            <a:off x="2057400" y="1953895"/>
            <a:ext cx="3657600" cy="789305"/>
          </a:xfrm>
          <a:prstGeom prst="roundRect">
            <a:avLst/>
          </a:prstGeom>
        </p:spPr>
        <p:style>
          <a:lnRef idx="1">
            <a:schemeClr val="dk1"/>
          </a:lnRef>
          <a:fillRef idx="2">
            <a:schemeClr val="dk1"/>
          </a:fillRef>
          <a:effectRef idx="1">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200" b="1" dirty="0">
                <a:effectLst/>
                <a:ea typeface="Calibri" panose="020F0502020204030204" pitchFamily="34" charset="0"/>
                <a:cs typeface="Times New Roman" panose="02020603050405020304" pitchFamily="18" charset="0"/>
              </a:rPr>
              <a:t>Data collection </a:t>
            </a:r>
            <a:r>
              <a:rPr lang="en-US" sz="1200" dirty="0">
                <a:effectLst/>
                <a:ea typeface="Calibri" panose="020F0502020204030204" pitchFamily="34" charset="0"/>
                <a:cs typeface="Times New Roman" panose="02020603050405020304" pitchFamily="18" charset="0"/>
              </a:rPr>
              <a:t>(Splitting Training set &amp; Test) set)</a:t>
            </a:r>
            <a:endParaRPr lang="en-IN" sz="1100" dirty="0">
              <a:effectLst/>
              <a:ea typeface="Calibri" panose="020F0502020204030204" pitchFamily="34" charset="0"/>
              <a:cs typeface="Times New Roman" panose="02020603050405020304" pitchFamily="18" charset="0"/>
            </a:endParaRPr>
          </a:p>
        </p:txBody>
      </p:sp>
      <p:sp>
        <p:nvSpPr>
          <p:cNvPr id="5" name="Rounded Rectangle 4"/>
          <p:cNvSpPr/>
          <p:nvPr/>
        </p:nvSpPr>
        <p:spPr>
          <a:xfrm>
            <a:off x="2030104" y="4073525"/>
            <a:ext cx="3886201" cy="571183"/>
          </a:xfrm>
          <a:prstGeom prst="roundRect">
            <a:avLst/>
          </a:prstGeom>
        </p:spPr>
        <p:style>
          <a:lnRef idx="1">
            <a:schemeClr val="dk1"/>
          </a:lnRef>
          <a:fillRef idx="2">
            <a:schemeClr val="dk1"/>
          </a:fillRef>
          <a:effectRef idx="1">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200" b="1" dirty="0">
                <a:effectLst/>
                <a:ea typeface="Calibri" panose="020F0502020204030204" pitchFamily="34" charset="0"/>
                <a:cs typeface="Times New Roman" panose="02020603050405020304" pitchFamily="18" charset="0"/>
              </a:rPr>
              <a:t>Building classification Model</a:t>
            </a:r>
            <a:endParaRPr lang="en-IN" sz="1100" dirty="0">
              <a:effectLst/>
              <a:ea typeface="Calibri" panose="020F0502020204030204" pitchFamily="34" charset="0"/>
              <a:cs typeface="Times New Roman" panose="02020603050405020304" pitchFamily="18" charset="0"/>
            </a:endParaRPr>
          </a:p>
        </p:txBody>
      </p:sp>
      <p:sp>
        <p:nvSpPr>
          <p:cNvPr id="6" name="Rounded Rectangle 5"/>
          <p:cNvSpPr/>
          <p:nvPr/>
        </p:nvSpPr>
        <p:spPr>
          <a:xfrm>
            <a:off x="1647824" y="3096260"/>
            <a:ext cx="4600575" cy="523875"/>
          </a:xfrm>
          <a:prstGeom prst="roundRect">
            <a:avLst/>
          </a:prstGeom>
        </p:spPr>
        <p:style>
          <a:lnRef idx="1">
            <a:schemeClr val="dk1"/>
          </a:lnRef>
          <a:fillRef idx="2">
            <a:schemeClr val="dk1"/>
          </a:fillRef>
          <a:effectRef idx="1">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US" sz="1200" b="1" dirty="0">
                <a:effectLst/>
                <a:ea typeface="Calibri" panose="020F0502020204030204" pitchFamily="34" charset="0"/>
                <a:cs typeface="Times New Roman" panose="02020603050405020304" pitchFamily="18" charset="0"/>
              </a:rPr>
              <a:t>Pre Processing </a:t>
            </a:r>
            <a:r>
              <a:rPr lang="en-US" sz="1200" dirty="0">
                <a:effectLst/>
                <a:ea typeface="Calibri" panose="020F0502020204030204" pitchFamily="34" charset="0"/>
                <a:cs typeface="Times New Roman" panose="02020603050405020304" pitchFamily="18" charset="0"/>
              </a:rPr>
              <a:t>(Sequential)</a:t>
            </a:r>
            <a:endParaRPr lang="en-IN" sz="1100" dirty="0">
              <a:effectLst/>
              <a:ea typeface="Calibri" panose="020F0502020204030204" pitchFamily="34" charset="0"/>
              <a:cs typeface="Times New Roman" panose="02020603050405020304" pitchFamily="18" charset="0"/>
            </a:endParaRPr>
          </a:p>
        </p:txBody>
      </p:sp>
      <p:cxnSp>
        <p:nvCxnSpPr>
          <p:cNvPr id="8" name="Straight Arrow Connector 7"/>
          <p:cNvCxnSpPr/>
          <p:nvPr/>
        </p:nvCxnSpPr>
        <p:spPr>
          <a:xfrm>
            <a:off x="3846830" y="2804160"/>
            <a:ext cx="0" cy="35306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9" name="Straight Arrow Connector 8"/>
          <p:cNvCxnSpPr/>
          <p:nvPr/>
        </p:nvCxnSpPr>
        <p:spPr>
          <a:xfrm>
            <a:off x="3861435" y="3720465"/>
            <a:ext cx="0" cy="353060"/>
          </a:xfrm>
          <a:prstGeom prst="straightConnector1">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cxnSp>
        <p:nvCxnSpPr>
          <p:cNvPr id="10" name="Straight Arrow Connector 9"/>
          <p:cNvCxnSpPr/>
          <p:nvPr/>
        </p:nvCxnSpPr>
        <p:spPr>
          <a:xfrm>
            <a:off x="3886199" y="4644708"/>
            <a:ext cx="0" cy="500379"/>
          </a:xfrm>
          <a:prstGeom prst="straightConnector1">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sp>
        <p:nvSpPr>
          <p:cNvPr id="11" name="Rectangle 8"/>
          <p:cNvSpPr>
            <a:spLocks noChangeArrowheads="1"/>
          </p:cNvSpPr>
          <p:nvPr/>
        </p:nvSpPr>
        <p:spPr bwMode="auto">
          <a:xfrm>
            <a:off x="371475" y="-353314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2" name="Rectangle 10"/>
          <p:cNvSpPr>
            <a:spLocks noChangeArrowheads="1"/>
          </p:cNvSpPr>
          <p:nvPr/>
        </p:nvSpPr>
        <p:spPr bwMode="auto">
          <a:xfrm>
            <a:off x="600075" y="-307594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smtClean="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smtClean="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kumimoji="0" lang="en-US" sz="8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anose="020B0604020202020204" pitchFamily="34" charset="0"/>
            </a:endParaRPr>
          </a:p>
        </p:txBody>
      </p:sp>
      <p:sp>
        <p:nvSpPr>
          <p:cNvPr id="13" name="Rectangle 14"/>
          <p:cNvSpPr>
            <a:spLocks noChangeArrowheads="1"/>
          </p:cNvSpPr>
          <p:nvPr/>
        </p:nvSpPr>
        <p:spPr bwMode="auto">
          <a:xfrm>
            <a:off x="600075" y="-307594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5" name="Rounded Rectangle 14"/>
          <p:cNvSpPr/>
          <p:nvPr/>
        </p:nvSpPr>
        <p:spPr>
          <a:xfrm>
            <a:off x="2221547" y="5145087"/>
            <a:ext cx="3694758" cy="571183"/>
          </a:xfrm>
          <a:prstGeom prst="roundRect">
            <a:avLst/>
          </a:prstGeom>
        </p:spPr>
        <p:style>
          <a:lnRef idx="1">
            <a:schemeClr val="dk1"/>
          </a:lnRef>
          <a:fillRef idx="2">
            <a:schemeClr val="dk1"/>
          </a:fillRef>
          <a:effectRef idx="1">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1400" b="1" dirty="0" smtClean="0"/>
              <a:t>Detection(</a:t>
            </a:r>
            <a:r>
              <a:rPr lang="en-US" sz="1400" dirty="0" smtClean="0"/>
              <a:t>Advancing </a:t>
            </a:r>
            <a:r>
              <a:rPr lang="en-US" sz="1400" dirty="0"/>
              <a:t>Diabetic Diagnosis</a:t>
            </a:r>
            <a:r>
              <a:rPr lang="en-US" sz="1400" b="1" dirty="0"/>
              <a:t>)</a:t>
            </a:r>
            <a:endParaRPr lang="en-AU" sz="1400" dirty="0"/>
          </a:p>
        </p:txBody>
      </p:sp>
    </p:spTree>
    <p:extLst>
      <p:ext uri="{BB962C8B-B14F-4D97-AF65-F5344CB8AC3E}">
        <p14:creationId xmlns:p14="http://schemas.microsoft.com/office/powerpoint/2010/main" val="278659083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609600"/>
            <a:ext cx="7620000" cy="1143000"/>
          </a:xfrm>
        </p:spPr>
        <p:txBody>
          <a:bodyPr/>
          <a:lstStyle/>
          <a:p>
            <a:r>
              <a:rPr lang="en-US" sz="3200" b="1" dirty="0"/>
              <a:t>Functional requirements:</a:t>
            </a:r>
            <a:endParaRPr lang="en-IN" sz="3200" dirty="0"/>
          </a:p>
        </p:txBody>
      </p:sp>
      <p:sp>
        <p:nvSpPr>
          <p:cNvPr id="3" name="Content Placeholder 2"/>
          <p:cNvSpPr>
            <a:spLocks noGrp="1"/>
          </p:cNvSpPr>
          <p:nvPr>
            <p:ph idx="1"/>
          </p:nvPr>
        </p:nvSpPr>
        <p:spPr>
          <a:xfrm>
            <a:off x="533400" y="2057400"/>
            <a:ext cx="7620000" cy="3276600"/>
          </a:xfrm>
        </p:spPr>
        <p:txBody>
          <a:bodyPr/>
          <a:lstStyle/>
          <a:p>
            <a:pPr marL="114300" indent="0" algn="just">
              <a:buNone/>
            </a:pPr>
            <a:r>
              <a:rPr lang="en-US" dirty="0" smtClean="0"/>
              <a:t>	</a:t>
            </a:r>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software requirements specification is a technical specification of requirements for the software product. It is the first step in the requirements analysis process. It lists requirements of a particular software system. The following details to follow the special libraries like </a:t>
            </a:r>
            <a:r>
              <a:rPr lang="en-US" sz="2000" dirty="0" err="1">
                <a:latin typeface="Times New Roman" panose="02020603050405020304" pitchFamily="18" charset="0"/>
                <a:cs typeface="Times New Roman" panose="02020603050405020304" pitchFamily="18" charset="0"/>
              </a:rPr>
              <a:t>tensorflow</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keras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matplotlib</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marL="114300" indent="0">
              <a:buNone/>
            </a:pPr>
            <a:endParaRPr lang="en-IN" dirty="0"/>
          </a:p>
        </p:txBody>
      </p:sp>
    </p:spTree>
    <p:extLst>
      <p:ext uri="{BB962C8B-B14F-4D97-AF65-F5344CB8AC3E}">
        <p14:creationId xmlns:p14="http://schemas.microsoft.com/office/powerpoint/2010/main" val="21954632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t>Non-Functional Requirements:</a:t>
            </a:r>
            <a:endParaRPr lang="en-IN" sz="3200" dirty="0"/>
          </a:p>
        </p:txBody>
      </p:sp>
      <p:sp>
        <p:nvSpPr>
          <p:cNvPr id="3" name="Content Placeholder 2"/>
          <p:cNvSpPr>
            <a:spLocks noGrp="1"/>
          </p:cNvSpPr>
          <p:nvPr>
            <p:ph idx="1"/>
          </p:nvPr>
        </p:nvSpPr>
        <p:spPr>
          <a:xfrm>
            <a:off x="609600" y="2133600"/>
            <a:ext cx="7620000" cy="3581400"/>
          </a:xfrm>
        </p:spPr>
        <p:txBody>
          <a:bodyPr/>
          <a:lstStyle/>
          <a:p>
            <a:pPr marL="114300" indent="0">
              <a:buNone/>
            </a:pPr>
            <a:r>
              <a:rPr lang="en-US" dirty="0" smtClean="0"/>
              <a:t>Process </a:t>
            </a:r>
            <a:r>
              <a:rPr lang="en-US" dirty="0"/>
              <a:t>of functional steps,</a:t>
            </a:r>
            <a:endParaRPr lang="en-IN" dirty="0"/>
          </a:p>
          <a:p>
            <a:pPr lvl="0">
              <a:buFont typeface="Wingdings" panose="05000000000000000000" pitchFamily="2" charset="2"/>
              <a:buChar char="Ø"/>
            </a:pPr>
            <a:r>
              <a:rPr lang="en-US" dirty="0"/>
              <a:t>Problem define</a:t>
            </a:r>
            <a:endParaRPr lang="en-IN" dirty="0"/>
          </a:p>
          <a:p>
            <a:pPr lvl="0">
              <a:buFont typeface="Wingdings" panose="05000000000000000000" pitchFamily="2" charset="2"/>
              <a:buChar char="Ø"/>
            </a:pPr>
            <a:r>
              <a:rPr lang="en-US" dirty="0"/>
              <a:t>Preparing data</a:t>
            </a:r>
            <a:endParaRPr lang="en-IN" dirty="0"/>
          </a:p>
          <a:p>
            <a:pPr lvl="0">
              <a:buFont typeface="Wingdings" panose="05000000000000000000" pitchFamily="2" charset="2"/>
              <a:buChar char="Ø"/>
            </a:pPr>
            <a:r>
              <a:rPr lang="en-US" dirty="0"/>
              <a:t>Evaluating algorithm</a:t>
            </a:r>
            <a:endParaRPr lang="en-IN" dirty="0"/>
          </a:p>
          <a:p>
            <a:pPr lvl="0">
              <a:buFont typeface="Wingdings" panose="05000000000000000000" pitchFamily="2" charset="2"/>
              <a:buChar char="Ø"/>
            </a:pPr>
            <a:r>
              <a:rPr lang="en-US" dirty="0"/>
              <a:t>Improving results</a:t>
            </a:r>
            <a:endParaRPr lang="en-IN" dirty="0"/>
          </a:p>
          <a:p>
            <a:pPr lvl="0">
              <a:buFont typeface="Wingdings" panose="05000000000000000000" pitchFamily="2" charset="2"/>
              <a:buChar char="Ø"/>
            </a:pPr>
            <a:r>
              <a:rPr lang="en-US" dirty="0"/>
              <a:t>Prediction the result</a:t>
            </a:r>
            <a:endParaRPr lang="en-IN" dirty="0"/>
          </a:p>
          <a:p>
            <a:pPr>
              <a:buFont typeface="Wingdings" panose="05000000000000000000" pitchFamily="2" charset="2"/>
              <a:buChar char="Ø"/>
            </a:pPr>
            <a:endParaRPr lang="en-IN" dirty="0"/>
          </a:p>
        </p:txBody>
      </p:sp>
    </p:spTree>
    <p:extLst>
      <p:ext uri="{BB962C8B-B14F-4D97-AF65-F5344CB8AC3E}">
        <p14:creationId xmlns:p14="http://schemas.microsoft.com/office/powerpoint/2010/main" val="97803039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sz="3600" b="1" dirty="0"/>
              <a:t>System Architecture</a:t>
            </a:r>
            <a:r>
              <a:rPr lang="en-US" sz="3600" b="1" dirty="0" smtClean="0"/>
              <a:t>:</a:t>
            </a:r>
            <a:endParaRPr lang="en-IN" sz="3600" dirty="0"/>
          </a:p>
        </p:txBody>
      </p:sp>
      <p:pic>
        <p:nvPicPr>
          <p:cNvPr id="6" name="Content Placeholder 5" descr="D:\DOWNLOAD\ML ALL UML-Sys Arch.drawio (1).p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0" y="2103438"/>
            <a:ext cx="4450637" cy="3932237"/>
          </a:xfrm>
          <a:prstGeom prst="rect">
            <a:avLst/>
          </a:prstGeom>
          <a:noFill/>
          <a:ln>
            <a:noFill/>
          </a:ln>
        </p:spPr>
      </p:pic>
    </p:spTree>
    <p:extLst>
      <p:ext uri="{BB962C8B-B14F-4D97-AF65-F5344CB8AC3E}">
        <p14:creationId xmlns:p14="http://schemas.microsoft.com/office/powerpoint/2010/main" val="129618088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 </a:t>
            </a:r>
            <a:r>
              <a:rPr lang="en-AU" dirty="0"/>
              <a:t/>
            </a:r>
            <a:br>
              <a:rPr lang="en-AU" dirty="0"/>
            </a:br>
            <a:r>
              <a:rPr lang="en-US" b="1" dirty="0"/>
              <a:t>ACTIVITY DIAGRAM:</a:t>
            </a:r>
            <a:r>
              <a:rPr lang="en-AU" dirty="0"/>
              <a:t/>
            </a:r>
            <a:br>
              <a:rPr lang="en-AU" dirty="0"/>
            </a:br>
            <a:endParaRPr lang="en-AU" dirty="0"/>
          </a:p>
        </p:txBody>
      </p:sp>
      <p:pic>
        <p:nvPicPr>
          <p:cNvPr id="5" name="Content Placeholder 4"/>
          <p:cNvPicPr>
            <a:picLocks noGrp="1"/>
          </p:cNvPicPr>
          <p:nvPr>
            <p:ph idx="1"/>
          </p:nvPr>
        </p:nvPicPr>
        <p:blipFill>
          <a:blip r:embed="rId2"/>
          <a:stretch>
            <a:fillRect/>
          </a:stretch>
        </p:blipFill>
        <p:spPr>
          <a:xfrm>
            <a:off x="1628617" y="2103438"/>
            <a:ext cx="5886766" cy="3932237"/>
          </a:xfrm>
          <a:prstGeom prst="rect">
            <a:avLst/>
          </a:prstGeom>
        </p:spPr>
      </p:pic>
    </p:spTree>
    <p:extLst>
      <p:ext uri="{BB962C8B-B14F-4D97-AF65-F5344CB8AC3E}">
        <p14:creationId xmlns:p14="http://schemas.microsoft.com/office/powerpoint/2010/main" val="42883461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CLASS DIAGRAM:</a:t>
            </a:r>
            <a:endParaRPr lang="en-AU" dirty="0"/>
          </a:p>
        </p:txBody>
      </p:sp>
      <p:pic>
        <p:nvPicPr>
          <p:cNvPr id="5" name="Content Placeholder 4"/>
          <p:cNvPicPr>
            <a:picLocks noGrp="1"/>
          </p:cNvPicPr>
          <p:nvPr>
            <p:ph idx="1"/>
          </p:nvPr>
        </p:nvPicPr>
        <p:blipFill>
          <a:blip r:embed="rId2"/>
          <a:stretch>
            <a:fillRect/>
          </a:stretch>
        </p:blipFill>
        <p:spPr>
          <a:xfrm>
            <a:off x="2162153" y="2103438"/>
            <a:ext cx="4819695" cy="3932237"/>
          </a:xfrm>
          <a:prstGeom prst="rect">
            <a:avLst/>
          </a:prstGeom>
        </p:spPr>
      </p:pic>
    </p:spTree>
    <p:extLst>
      <p:ext uri="{BB962C8B-B14F-4D97-AF65-F5344CB8AC3E}">
        <p14:creationId xmlns:p14="http://schemas.microsoft.com/office/powerpoint/2010/main" val="4076061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t>DESIGN ARCHITECTURE</a:t>
            </a:r>
            <a:r>
              <a:rPr lang="en-US" sz="3200" b="1" dirty="0" smtClean="0"/>
              <a:t>:</a:t>
            </a:r>
            <a:endParaRPr lang="en-IN" sz="3200" dirty="0"/>
          </a:p>
        </p:txBody>
      </p:sp>
      <p:sp>
        <p:nvSpPr>
          <p:cNvPr id="3" name="Content Placeholder 2"/>
          <p:cNvSpPr>
            <a:spLocks noGrp="1"/>
          </p:cNvSpPr>
          <p:nvPr>
            <p:ph idx="1"/>
          </p:nvPr>
        </p:nvSpPr>
        <p:spPr>
          <a:xfrm>
            <a:off x="603736" y="2514600"/>
            <a:ext cx="6347714" cy="3880773"/>
          </a:xfrm>
        </p:spPr>
        <p:txBody>
          <a:bodyPr/>
          <a:lstStyle/>
          <a:p>
            <a:pPr marL="114300" indent="0">
              <a:buNone/>
            </a:pPr>
            <a:endParaRPr lang="en-US" b="1" dirty="0" smtClean="0"/>
          </a:p>
          <a:p>
            <a:pPr marL="114300" indent="0">
              <a:buNone/>
            </a:pPr>
            <a:endParaRPr lang="en-IN" dirty="0"/>
          </a:p>
        </p:txBody>
      </p:sp>
      <p:pic>
        <p:nvPicPr>
          <p:cNvPr id="6" name="Picture 5"/>
          <p:cNvPicPr/>
          <p:nvPr/>
        </p:nvPicPr>
        <p:blipFill>
          <a:blip r:embed="rId2"/>
          <a:stretch>
            <a:fillRect/>
          </a:stretch>
        </p:blipFill>
        <p:spPr>
          <a:xfrm>
            <a:off x="1676400" y="1905000"/>
            <a:ext cx="5643880" cy="4215130"/>
          </a:xfrm>
          <a:prstGeom prst="rect">
            <a:avLst/>
          </a:prstGeom>
        </p:spPr>
      </p:pic>
    </p:spTree>
    <p:extLst>
      <p:ext uri="{BB962C8B-B14F-4D97-AF65-F5344CB8AC3E}">
        <p14:creationId xmlns:p14="http://schemas.microsoft.com/office/powerpoint/2010/main" val="397047581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685800"/>
            <a:ext cx="8686800" cy="4495800"/>
          </a:xfrm>
        </p:spPr>
        <p:txBody>
          <a:bodyPr>
            <a:normAutofit fontScale="77500" lnSpcReduction="20000"/>
          </a:bodyPr>
          <a:lstStyle/>
          <a:p>
            <a:pPr marL="0" indent="0" algn="ctr">
              <a:buNone/>
            </a:pPr>
            <a:r>
              <a:rPr lang="en-IN" sz="3200" b="1" dirty="0">
                <a:solidFill>
                  <a:schemeClr val="accent1"/>
                </a:solidFill>
              </a:rPr>
              <a:t>Project Requirements: </a:t>
            </a:r>
            <a:endParaRPr lang="en-US" sz="2800" dirty="0">
              <a:solidFill>
                <a:schemeClr val="accent1"/>
              </a:solidFill>
            </a:endParaRPr>
          </a:p>
          <a:p>
            <a:pPr marL="0" indent="0" algn="ctr">
              <a:buNone/>
            </a:pPr>
            <a:endParaRPr lang="en-IN" sz="3200" b="1" dirty="0" smtClean="0">
              <a:solidFill>
                <a:srgbClr val="FFFF00"/>
              </a:solidFill>
            </a:endParaRPr>
          </a:p>
          <a:p>
            <a:pPr marL="0" indent="0" algn="just">
              <a:buNone/>
            </a:pPr>
            <a:r>
              <a:rPr lang="en-US" sz="2800" dirty="0" smtClean="0">
                <a:solidFill>
                  <a:schemeClr val="tx1"/>
                </a:solidFill>
                <a:latin typeface="Times New Roman" panose="02020603050405020304" pitchFamily="18" charset="0"/>
                <a:cs typeface="Times New Roman" panose="02020603050405020304" pitchFamily="18" charset="0"/>
              </a:rPr>
              <a:t>Framework</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smtClean="0">
                <a:solidFill>
                  <a:schemeClr val="tx1"/>
                </a:solidFill>
                <a:latin typeface="Times New Roman" panose="02020603050405020304" pitchFamily="18" charset="0"/>
                <a:cs typeface="Times New Roman" panose="02020603050405020304" pitchFamily="18" charset="0"/>
              </a:rPr>
              <a:t>Keras</a:t>
            </a:r>
            <a:endParaRPr lang="en-IN" sz="2800"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IN" sz="2800" dirty="0">
                <a:solidFill>
                  <a:schemeClr val="tx1"/>
                </a:solidFill>
                <a:latin typeface="Times New Roman" panose="02020603050405020304" pitchFamily="18" charset="0"/>
                <a:cs typeface="Times New Roman" panose="02020603050405020304" pitchFamily="18" charset="0"/>
              </a:rPr>
              <a:t>1. Software Requirements:</a:t>
            </a:r>
          </a:p>
          <a:p>
            <a:r>
              <a:rPr lang="en-IN" sz="2400" dirty="0">
                <a:latin typeface="Times New Roman" panose="02020603050405020304" pitchFamily="18" charset="0"/>
                <a:cs typeface="Times New Roman" panose="02020603050405020304" pitchFamily="18" charset="0"/>
              </a:rPr>
              <a:t>Operating System 	: Windows </a:t>
            </a:r>
            <a:endParaRPr lang="en-US"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Tool   		: Anaconda with </a:t>
            </a:r>
            <a:r>
              <a:rPr lang="en-IN" sz="2400" dirty="0" err="1">
                <a:latin typeface="Times New Roman" panose="02020603050405020304" pitchFamily="18" charset="0"/>
                <a:cs typeface="Times New Roman" panose="02020603050405020304" pitchFamily="18" charset="0"/>
              </a:rPr>
              <a:t>Jupyter</a:t>
            </a:r>
            <a:r>
              <a:rPr lang="en-IN" sz="2400" dirty="0">
                <a:latin typeface="Times New Roman" panose="02020603050405020304" pitchFamily="18" charset="0"/>
                <a:cs typeface="Times New Roman" panose="02020603050405020304" pitchFamily="18" charset="0"/>
              </a:rPr>
              <a:t> Notebook</a:t>
            </a:r>
          </a:p>
          <a:p>
            <a:r>
              <a:rPr lang="en-IN" sz="2400" dirty="0">
                <a:latin typeface="Times New Roman" panose="02020603050405020304" pitchFamily="18" charset="0"/>
                <a:cs typeface="Times New Roman" panose="02020603050405020304" pitchFamily="18" charset="0"/>
              </a:rPr>
              <a:t>Language		: Python</a:t>
            </a:r>
            <a:endParaRPr lang="en-US" sz="2400" dirty="0">
              <a:latin typeface="Times New Roman" panose="02020603050405020304" pitchFamily="18" charset="0"/>
              <a:cs typeface="Times New Roman" panose="02020603050405020304" pitchFamily="18" charset="0"/>
            </a:endParaRPr>
          </a:p>
          <a:p>
            <a:pPr marL="0" indent="0" algn="just">
              <a:buNone/>
            </a:pPr>
            <a:endParaRPr lang="en-US" sz="2800" dirty="0">
              <a:solidFill>
                <a:srgbClr val="FFFF00"/>
              </a:solidFill>
              <a:latin typeface="Times New Roman" panose="02020603050405020304" pitchFamily="18" charset="0"/>
              <a:cs typeface="Times New Roman" panose="02020603050405020304" pitchFamily="18" charset="0"/>
            </a:endParaRPr>
          </a:p>
          <a:p>
            <a:pPr marL="0" indent="0" algn="just">
              <a:buNone/>
            </a:pPr>
            <a:r>
              <a:rPr lang="en-IN" sz="2800" dirty="0">
                <a:solidFill>
                  <a:schemeClr val="tx1"/>
                </a:solidFill>
                <a:latin typeface="Times New Roman" panose="02020603050405020304" pitchFamily="18" charset="0"/>
                <a:cs typeface="Times New Roman" panose="02020603050405020304" pitchFamily="18" charset="0"/>
              </a:rPr>
              <a:t>2. Hardware requirements:</a:t>
            </a:r>
            <a:endParaRPr lang="en-US" sz="2800" dirty="0">
              <a:solidFill>
                <a:schemeClr val="tx1"/>
              </a:solidFill>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Processor   		: </a:t>
            </a:r>
            <a:r>
              <a:rPr lang="en-US" sz="2400" dirty="0">
                <a:latin typeface="Times New Roman" panose="02020603050405020304" pitchFamily="18" charset="0"/>
                <a:cs typeface="Times New Roman" panose="02020603050405020304" pitchFamily="18" charset="0"/>
              </a:rPr>
              <a:t>minimum i3 and above</a:t>
            </a:r>
          </a:p>
          <a:p>
            <a:r>
              <a:rPr lang="en-IN" sz="2400" dirty="0">
                <a:latin typeface="Times New Roman" panose="02020603050405020304" pitchFamily="18" charset="0"/>
                <a:cs typeface="Times New Roman" panose="02020603050405020304" pitchFamily="18" charset="0"/>
              </a:rPr>
              <a:t>Hard disk   		: minimum 300 GB</a:t>
            </a:r>
            <a:endParaRPr lang="en-US"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RAM        		</a:t>
            </a:r>
            <a:r>
              <a:rPr lang="en-IN" sz="2400" dirty="0" smtClean="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minimum 4 GB</a:t>
            </a:r>
            <a:endParaRPr lang="en-US" sz="2400" dirty="0">
              <a:latin typeface="Times New Roman" panose="02020603050405020304" pitchFamily="18" charset="0"/>
              <a:cs typeface="Times New Roman" panose="02020603050405020304" pitchFamily="18" charset="0"/>
            </a:endParaRPr>
          </a:p>
          <a:p>
            <a:pPr marL="457200" indent="-457200" algn="just"/>
            <a:endParaRPr lang="en-US" sz="2800" dirty="0">
              <a:solidFill>
                <a:srgbClr val="FFFF00"/>
              </a:solidFill>
              <a:latin typeface="Times New Roman" panose="02020603050405020304" pitchFamily="18" charset="0"/>
              <a:cs typeface="Times New Roman" panose="02020603050405020304" pitchFamily="18" charset="0"/>
            </a:endParaRPr>
          </a:p>
          <a:p>
            <a:pPr marL="0" indent="0" algn="just">
              <a:buNone/>
            </a:pPr>
            <a:endParaRPr lang="en-US" sz="2800" dirty="0">
              <a:solidFill>
                <a:srgbClr val="FFFF00"/>
              </a:solidFill>
            </a:endParaRPr>
          </a:p>
        </p:txBody>
      </p:sp>
    </p:spTree>
    <p:extLst>
      <p:ext uri="{BB962C8B-B14F-4D97-AF65-F5344CB8AC3E}">
        <p14:creationId xmlns:p14="http://schemas.microsoft.com/office/powerpoint/2010/main" val="42866126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sz="3600" b="1" dirty="0" smtClean="0"/>
              <a:t>METHODOLOGY:</a:t>
            </a:r>
            <a:endParaRPr lang="en-IN" sz="3600" dirty="0"/>
          </a:p>
        </p:txBody>
      </p:sp>
      <p:sp>
        <p:nvSpPr>
          <p:cNvPr id="3" name="Content Placeholder 2"/>
          <p:cNvSpPr>
            <a:spLocks noGrp="1"/>
          </p:cNvSpPr>
          <p:nvPr>
            <p:ph idx="1"/>
          </p:nvPr>
        </p:nvSpPr>
        <p:spPr>
          <a:xfrm>
            <a:off x="838200" y="1930400"/>
            <a:ext cx="7772400" cy="3880773"/>
          </a:xfrm>
        </p:spPr>
        <p:txBody>
          <a:bodyPr>
            <a:normAutofit/>
          </a:bodyPr>
          <a:lstStyle/>
          <a:p>
            <a:r>
              <a:rPr lang="en-US" dirty="0"/>
              <a:t>Preprocessing and Training the model (CNN): The dataset is preprocessed such as Image reshaping, resizing and conversion to an array form. Similar processing is also done on the test image. A dataset consisting of about 5 different diagnosis of diabetes is obtained, out of which any image can be used as a test image for the software. The train dataset is used to train the model (CNN) so that it can identify the test image and the disease it has CNN has different layers that are Dense, Dropout, Activation, Flatten, Convolution2D, and MaxPooling2D. After the model is trained successfully, the software can identify the Automobile parts Classification image contained in the dataset. After successful training and preprocessing, comparison of the test image and trained model takes place to predict the diabetes </a:t>
            </a:r>
            <a:endParaRPr lang="en-AU" dirty="0"/>
          </a:p>
          <a:p>
            <a:endParaRPr lang="en-AU" dirty="0"/>
          </a:p>
        </p:txBody>
      </p:sp>
    </p:spTree>
    <p:extLst>
      <p:ext uri="{BB962C8B-B14F-4D97-AF65-F5344CB8AC3E}">
        <p14:creationId xmlns:p14="http://schemas.microsoft.com/office/powerpoint/2010/main" val="8314590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sz="3200" b="1" dirty="0"/>
              <a:t>LIST OF </a:t>
            </a:r>
            <a:r>
              <a:rPr lang="en-US" sz="3200" b="1" dirty="0" smtClean="0"/>
              <a:t>MODULES:</a:t>
            </a:r>
            <a:endParaRPr lang="en-IN" sz="3200" dirty="0"/>
          </a:p>
        </p:txBody>
      </p:sp>
      <p:sp>
        <p:nvSpPr>
          <p:cNvPr id="3" name="Content Placeholder 2"/>
          <p:cNvSpPr>
            <a:spLocks noGrp="1"/>
          </p:cNvSpPr>
          <p:nvPr>
            <p:ph idx="1"/>
          </p:nvPr>
        </p:nvSpPr>
        <p:spPr>
          <a:xfrm>
            <a:off x="1143000" y="1752600"/>
            <a:ext cx="5181600" cy="3352800"/>
          </a:xfrm>
        </p:spPr>
        <p:txBody>
          <a:bodyPr/>
          <a:lstStyle/>
          <a:p>
            <a:pPr lvl="0">
              <a:buFont typeface="Wingdings" panose="05000000000000000000" pitchFamily="2" charset="2"/>
              <a:buChar char="v"/>
            </a:pPr>
            <a:r>
              <a:rPr lang="en-US" sz="2400" dirty="0"/>
              <a:t>Data Pre-processing</a:t>
            </a:r>
            <a:endParaRPr lang="en-AU" sz="2400" dirty="0"/>
          </a:p>
          <a:p>
            <a:pPr lvl="0">
              <a:buFont typeface="Wingdings" panose="05000000000000000000" pitchFamily="2" charset="2"/>
              <a:buChar char="v"/>
            </a:pPr>
            <a:r>
              <a:rPr lang="en-US" sz="2400" dirty="0"/>
              <a:t>Data Analysis of Visualization</a:t>
            </a:r>
            <a:endParaRPr lang="en-AU" sz="2400" dirty="0"/>
          </a:p>
          <a:p>
            <a:pPr lvl="0">
              <a:buFont typeface="Wingdings" panose="05000000000000000000" pitchFamily="2" charset="2"/>
              <a:buChar char="v"/>
            </a:pPr>
            <a:r>
              <a:rPr lang="en-US" sz="2400" dirty="0"/>
              <a:t>GRADIENT BOOSTING</a:t>
            </a:r>
            <a:endParaRPr lang="en-AU" sz="2400" dirty="0"/>
          </a:p>
          <a:p>
            <a:pPr lvl="0">
              <a:buFont typeface="Wingdings" panose="05000000000000000000" pitchFamily="2" charset="2"/>
              <a:buChar char="v"/>
            </a:pPr>
            <a:r>
              <a:rPr lang="en-US" sz="2400" dirty="0"/>
              <a:t>Manual Net </a:t>
            </a:r>
            <a:endParaRPr lang="en-AU" sz="2400" dirty="0"/>
          </a:p>
          <a:p>
            <a:pPr lvl="0">
              <a:buFont typeface="Wingdings" panose="05000000000000000000" pitchFamily="2" charset="2"/>
              <a:buChar char="v"/>
            </a:pPr>
            <a:r>
              <a:rPr lang="en-US" sz="2400" smtClean="0"/>
              <a:t>LeNet</a:t>
            </a:r>
            <a:endParaRPr lang="en-AU" sz="2400" dirty="0"/>
          </a:p>
          <a:p>
            <a:pPr lvl="0">
              <a:buFont typeface="Wingdings" panose="05000000000000000000" pitchFamily="2" charset="2"/>
              <a:buChar char="v"/>
            </a:pPr>
            <a:r>
              <a:rPr lang="en-US" sz="2400" dirty="0"/>
              <a:t>Deploy</a:t>
            </a:r>
            <a:endParaRPr lang="en-AU" sz="2400" dirty="0"/>
          </a:p>
        </p:txBody>
      </p:sp>
    </p:spTree>
    <p:extLst>
      <p:ext uri="{BB962C8B-B14F-4D97-AF65-F5344CB8AC3E}">
        <p14:creationId xmlns:p14="http://schemas.microsoft.com/office/powerpoint/2010/main" val="13114434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MODULE DESCRIPTION:</a:t>
            </a:r>
            <a:r>
              <a:rPr lang="en-AU" dirty="0"/>
              <a:t/>
            </a:r>
            <a:br>
              <a:rPr lang="en-AU" dirty="0"/>
            </a:br>
            <a:endParaRPr lang="en-AU" dirty="0"/>
          </a:p>
        </p:txBody>
      </p:sp>
      <p:sp>
        <p:nvSpPr>
          <p:cNvPr id="3" name="Content Placeholder 2"/>
          <p:cNvSpPr>
            <a:spLocks noGrp="1"/>
          </p:cNvSpPr>
          <p:nvPr>
            <p:ph idx="1"/>
          </p:nvPr>
        </p:nvSpPr>
        <p:spPr/>
        <p:txBody>
          <a:bodyPr>
            <a:normAutofit/>
          </a:bodyPr>
          <a:lstStyle/>
          <a:p>
            <a:r>
              <a:rPr lang="en-US" b="1" dirty="0" smtClean="0"/>
              <a:t>Data </a:t>
            </a:r>
            <a:r>
              <a:rPr lang="en-US" b="1" dirty="0"/>
              <a:t>Pre-processing</a:t>
            </a:r>
            <a:endParaRPr lang="en-AU" dirty="0"/>
          </a:p>
          <a:p>
            <a:r>
              <a:rPr lang="en-US" dirty="0"/>
              <a:t>Validation techniques in machine learning are used to get the error rate of the Machine Learning (ML) model, which can be considered as close to the true error rate of the dataset. If the data volume is large enough to be representative of the population, you may not need the validation techniques. However, in real-world scenarios, to work with samples of data that may not be a true representative of the population of given dataset. To finding the missing value, duplicate value and description of data type whether it is float variable or integer. The sample of data used to provide an unbiased evaluation of a model fit on the training dataset while tuning model hyper parameters.</a:t>
            </a:r>
            <a:endParaRPr lang="en-AU" dirty="0"/>
          </a:p>
          <a:p>
            <a:endParaRPr lang="en-AU" dirty="0"/>
          </a:p>
        </p:txBody>
      </p:sp>
    </p:spTree>
    <p:extLst>
      <p:ext uri="{BB962C8B-B14F-4D97-AF65-F5344CB8AC3E}">
        <p14:creationId xmlns:p14="http://schemas.microsoft.com/office/powerpoint/2010/main" val="35512718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Exploration data analysis of visualization</a:t>
            </a:r>
            <a:r>
              <a:rPr lang="en-AU" dirty="0"/>
              <a:t/>
            </a:r>
            <a:br>
              <a:rPr lang="en-AU" dirty="0"/>
            </a:br>
            <a:endParaRPr lang="en-AU" dirty="0"/>
          </a:p>
        </p:txBody>
      </p:sp>
      <p:sp>
        <p:nvSpPr>
          <p:cNvPr id="3" name="Content Placeholder 2"/>
          <p:cNvSpPr>
            <a:spLocks noGrp="1"/>
          </p:cNvSpPr>
          <p:nvPr>
            <p:ph idx="1"/>
          </p:nvPr>
        </p:nvSpPr>
        <p:spPr/>
        <p:txBody>
          <a:bodyPr>
            <a:normAutofit/>
          </a:bodyPr>
          <a:lstStyle/>
          <a:p>
            <a:pPr fontAlgn="base"/>
            <a:r>
              <a:rPr lang="en-US" dirty="0" smtClean="0"/>
              <a:t>Data </a:t>
            </a:r>
            <a:r>
              <a:rPr lang="en-US" dirty="0"/>
              <a:t>visualization is an important skill in applied statistics and machine learning. Statistics does indeed focus on quantitative descriptions and estimations of data. Data visualization provides an important suite of tools for gaining a qualitative understanding. This can be helpful when exploring and getting to know a dataset and can help with identifying patterns, corrupt data, outliers, and much more. With a little domain knowledge, data visualizations can be used to express and demonstrate key relationships in plots and charts that are more visceral and stakeholders than measures of association or significance. Data visualization and exploratory data analysis are whole fields themselves and it will recommend a deeper dive into some the books mentioned at the end.</a:t>
            </a:r>
            <a:endParaRPr lang="en-AU" dirty="0"/>
          </a:p>
          <a:p>
            <a:endParaRPr lang="en-AU" dirty="0"/>
          </a:p>
        </p:txBody>
      </p:sp>
    </p:spTree>
    <p:extLst>
      <p:ext uri="{BB962C8B-B14F-4D97-AF65-F5344CB8AC3E}">
        <p14:creationId xmlns:p14="http://schemas.microsoft.com/office/powerpoint/2010/main" val="5394531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
            <a:ext cx="7543800" cy="1450757"/>
          </a:xfrm>
        </p:spPr>
        <p:txBody>
          <a:bodyPr/>
          <a:lstStyle/>
          <a:p>
            <a:r>
              <a:rPr lang="en-US" sz="3600" b="1" dirty="0"/>
              <a:t>GRADIENT BOOSTING:</a:t>
            </a:r>
            <a:endParaRPr lang="en-AU" sz="3600" dirty="0"/>
          </a:p>
        </p:txBody>
      </p:sp>
      <p:sp>
        <p:nvSpPr>
          <p:cNvPr id="3" name="Content Placeholder 2"/>
          <p:cNvSpPr>
            <a:spLocks noGrp="1"/>
          </p:cNvSpPr>
          <p:nvPr>
            <p:ph idx="1"/>
          </p:nvPr>
        </p:nvSpPr>
        <p:spPr>
          <a:xfrm>
            <a:off x="457200" y="1981200"/>
            <a:ext cx="8839200" cy="4419600"/>
          </a:xfrm>
        </p:spPr>
        <p:txBody>
          <a:bodyPr>
            <a:normAutofit/>
          </a:bodyPr>
          <a:lstStyle/>
          <a:p>
            <a:r>
              <a:rPr lang="en-US" dirty="0" smtClean="0"/>
              <a:t>Gradient </a:t>
            </a:r>
            <a:r>
              <a:rPr lang="en-US" dirty="0"/>
              <a:t>Boosting is another powerful ensemble learning technique used for both classification and regression tasks. It builds a series of weak learners (typically decision trees) sequentially, with each tree trying to correct the errors of the combined ensemble so far. One of the most popular implementations of Gradient Boosting is the Gradient Boosting Machine (GBM) or its variants like </a:t>
            </a:r>
            <a:r>
              <a:rPr lang="en-US" dirty="0" err="1"/>
              <a:t>XGBoost</a:t>
            </a:r>
            <a:r>
              <a:rPr lang="en-US" dirty="0"/>
              <a:t>, </a:t>
            </a:r>
            <a:r>
              <a:rPr lang="en-US" dirty="0" err="1"/>
              <a:t>LightGBM</a:t>
            </a:r>
            <a:r>
              <a:rPr lang="en-US" dirty="0"/>
              <a:t>, and </a:t>
            </a:r>
            <a:r>
              <a:rPr lang="en-US" dirty="0" err="1"/>
              <a:t>CatBoost</a:t>
            </a:r>
            <a:r>
              <a:rPr lang="en-US" dirty="0"/>
              <a:t>.</a:t>
            </a:r>
            <a:endParaRPr lang="en-AU" dirty="0"/>
          </a:p>
          <a:p>
            <a:r>
              <a:rPr lang="en-US" dirty="0"/>
              <a:t>Here's an explanation of how the Gradient Boosting algorithm works:</a:t>
            </a:r>
            <a:endParaRPr lang="en-AU" dirty="0"/>
          </a:p>
          <a:p>
            <a:r>
              <a:rPr lang="en-US" dirty="0"/>
              <a:t>Building Weak Learners:</a:t>
            </a:r>
            <a:endParaRPr lang="en-AU" dirty="0"/>
          </a:p>
          <a:p>
            <a:r>
              <a:rPr lang="en-US" dirty="0"/>
              <a:t>The algorithm starts by fitting a simple model (weak learner) to the dataset. For regression tasks, this could be a decision tree with just a few levels, and for classification tasks, it could be a shallow decision tree with two classes.</a:t>
            </a:r>
            <a:endParaRPr lang="en-AU" dirty="0"/>
          </a:p>
        </p:txBody>
      </p:sp>
    </p:spTree>
    <p:extLst>
      <p:ext uri="{BB962C8B-B14F-4D97-AF65-F5344CB8AC3E}">
        <p14:creationId xmlns:p14="http://schemas.microsoft.com/office/powerpoint/2010/main" val="1946514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533400"/>
            <a:ext cx="6347713" cy="1320800"/>
          </a:xfrm>
        </p:spPr>
        <p:txBody>
          <a:bodyPr>
            <a:normAutofit/>
          </a:bodyPr>
          <a:lstStyle/>
          <a:p>
            <a:r>
              <a:rPr lang="en-IN" sz="3600" b="1" dirty="0"/>
              <a:t>MANUAL ARCHITECTURE:</a:t>
            </a:r>
            <a:endParaRPr lang="en-AU" sz="3600" dirty="0"/>
          </a:p>
        </p:txBody>
      </p:sp>
      <p:sp>
        <p:nvSpPr>
          <p:cNvPr id="3" name="Content Placeholder 2"/>
          <p:cNvSpPr>
            <a:spLocks noGrp="1"/>
          </p:cNvSpPr>
          <p:nvPr>
            <p:ph idx="1"/>
          </p:nvPr>
        </p:nvSpPr>
        <p:spPr/>
        <p:txBody>
          <a:bodyPr>
            <a:normAutofit/>
          </a:bodyPr>
          <a:lstStyle/>
          <a:p>
            <a:r>
              <a:rPr lang="en-IN" dirty="0" smtClean="0"/>
              <a:t>Manual </a:t>
            </a:r>
            <a:r>
              <a:rPr lang="en-IN" dirty="0"/>
              <a:t>Architecture is a novel convolutional neural network designed to address specific challenges in machine learning and computer vision tasks. Leveraging a carefully crafted structure, </a:t>
            </a:r>
            <a:r>
              <a:rPr lang="en-IN" dirty="0" err="1"/>
              <a:t>ManuLAL</a:t>
            </a:r>
            <a:r>
              <a:rPr lang="en-IN" dirty="0"/>
              <a:t> aims to optimize both model </a:t>
            </a:r>
            <a:r>
              <a:rPr lang="en-IN" dirty="0" smtClean="0"/>
              <a:t>performance </a:t>
            </a:r>
            <a:r>
              <a:rPr lang="en-IN" dirty="0"/>
              <a:t>and computational efficiency</a:t>
            </a:r>
            <a:r>
              <a:rPr lang="en-IN" dirty="0" smtClean="0"/>
              <a:t>.</a:t>
            </a:r>
          </a:p>
          <a:p>
            <a:endParaRPr lang="en-AU" dirty="0"/>
          </a:p>
        </p:txBody>
      </p:sp>
      <p:pic>
        <p:nvPicPr>
          <p:cNvPr id="4" name="Picture 3"/>
          <p:cNvPicPr/>
          <p:nvPr/>
        </p:nvPicPr>
        <p:blipFill>
          <a:blip r:embed="rId2"/>
          <a:stretch>
            <a:fillRect/>
          </a:stretch>
        </p:blipFill>
        <p:spPr>
          <a:xfrm>
            <a:off x="1143000" y="3429000"/>
            <a:ext cx="6317614" cy="2133600"/>
          </a:xfrm>
          <a:prstGeom prst="rect">
            <a:avLst/>
          </a:prstGeom>
        </p:spPr>
      </p:pic>
    </p:spTree>
    <p:extLst>
      <p:ext uri="{BB962C8B-B14F-4D97-AF65-F5344CB8AC3E}">
        <p14:creationId xmlns:p14="http://schemas.microsoft.com/office/powerpoint/2010/main" val="7893857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LENET</a:t>
            </a:r>
            <a:r>
              <a:rPr lang="en-US" b="1" dirty="0"/>
              <a:t>:</a:t>
            </a:r>
            <a:r>
              <a:rPr lang="en-AU" dirty="0"/>
              <a:t/>
            </a:r>
            <a:br>
              <a:rPr lang="en-AU" dirty="0"/>
            </a:br>
            <a:endParaRPr lang="en-IN" dirty="0">
              <a:solidFill>
                <a:schemeClr val="tx1"/>
              </a:solidFill>
            </a:endParaRPr>
          </a:p>
        </p:txBody>
      </p:sp>
      <p:sp>
        <p:nvSpPr>
          <p:cNvPr id="3" name="Content Placeholder 2"/>
          <p:cNvSpPr>
            <a:spLocks noGrp="1"/>
          </p:cNvSpPr>
          <p:nvPr>
            <p:ph idx="1"/>
          </p:nvPr>
        </p:nvSpPr>
        <p:spPr>
          <a:xfrm>
            <a:off x="457200" y="1676400"/>
            <a:ext cx="7924800" cy="4800600"/>
          </a:xfrm>
        </p:spPr>
        <p:txBody>
          <a:bodyPr>
            <a:normAutofit lnSpcReduction="10000"/>
          </a:bodyPr>
          <a:lstStyle/>
          <a:p>
            <a:r>
              <a:rPr lang="en-US" dirty="0"/>
              <a:t>The </a:t>
            </a:r>
            <a:r>
              <a:rPr lang="en-US" dirty="0" err="1"/>
              <a:t>LeNet</a:t>
            </a:r>
            <a:r>
              <a:rPr lang="en-US" dirty="0"/>
              <a:t> architecture is a pioneering convolutional neural network (CNN) architecture developed by Yann </a:t>
            </a:r>
            <a:r>
              <a:rPr lang="en-US" dirty="0" err="1"/>
              <a:t>LeCun</a:t>
            </a:r>
            <a:r>
              <a:rPr lang="en-US" dirty="0"/>
              <a:t> and his colleagues in the early 1990s. It played a crucial role in the advancement of deep learning and was specifically designed for handwritten digit recognition tasks, such as recognizing digits in checks and postal addresses. </a:t>
            </a:r>
            <a:r>
              <a:rPr lang="en-US" dirty="0" err="1"/>
              <a:t>LeNet</a:t>
            </a:r>
            <a:r>
              <a:rPr lang="en-US" dirty="0"/>
              <a:t> laid the foundation for modern CNNs and their applications in image recognition and computer vision tasks.</a:t>
            </a:r>
            <a:endParaRPr lang="en-AU" dirty="0"/>
          </a:p>
          <a:p>
            <a:r>
              <a:rPr lang="en-US" dirty="0"/>
              <a:t>The </a:t>
            </a:r>
            <a:r>
              <a:rPr lang="en-US" dirty="0" err="1"/>
              <a:t>LeNet</a:t>
            </a:r>
            <a:r>
              <a:rPr lang="en-US" dirty="0"/>
              <a:t> architecture consists of the following layers:</a:t>
            </a:r>
            <a:endParaRPr lang="en-AU" dirty="0"/>
          </a:p>
          <a:p>
            <a:r>
              <a:rPr lang="en-US" dirty="0"/>
              <a:t>Input Layer: This layer accepts the input image, which is typically a grayscale image of a handwritten digit. The input images are usually of size 32x32 pixels.</a:t>
            </a:r>
            <a:endParaRPr lang="en-AU" dirty="0"/>
          </a:p>
          <a:p>
            <a:r>
              <a:rPr lang="en-US" dirty="0"/>
              <a:t>Convolutional Layers: </a:t>
            </a:r>
            <a:r>
              <a:rPr lang="en-US" dirty="0" err="1"/>
              <a:t>LeNet</a:t>
            </a:r>
            <a:r>
              <a:rPr lang="en-US" dirty="0"/>
              <a:t> uses two convolutional layers to extract features from the input images. Each convolutional layer applies convolutional filters (also called kernels) to the input image, capturing different patterns and features. These filters slide over the image to create feature maps.</a:t>
            </a:r>
            <a:endParaRPr lang="en-AU" dirty="0"/>
          </a:p>
        </p:txBody>
      </p:sp>
    </p:spTree>
    <p:extLst>
      <p:ext uri="{BB962C8B-B14F-4D97-AF65-F5344CB8AC3E}">
        <p14:creationId xmlns:p14="http://schemas.microsoft.com/office/powerpoint/2010/main" val="37065826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04800" y="304800"/>
            <a:ext cx="7620000" cy="1143000"/>
          </a:xfrm>
        </p:spPr>
        <p:txBody>
          <a:bodyPr>
            <a:normAutofit fontScale="90000"/>
          </a:bodyPr>
          <a:lstStyle/>
          <a:p>
            <a:r>
              <a:rPr lang="en-US" b="1" dirty="0">
                <a:solidFill>
                  <a:srgbClr val="FFFF00"/>
                </a:solidFill>
              </a:rPr>
              <a:t> </a:t>
            </a:r>
            <a:r>
              <a:rPr lang="en-IN" dirty="0">
                <a:solidFill>
                  <a:srgbClr val="FFFF00"/>
                </a:solidFill>
              </a:rPr>
              <a:t/>
            </a:r>
            <a:br>
              <a:rPr lang="en-IN" dirty="0">
                <a:solidFill>
                  <a:srgbClr val="FFFF00"/>
                </a:solidFill>
              </a:rPr>
            </a:br>
            <a:r>
              <a:rPr lang="en-IN" dirty="0" smtClean="0">
                <a:solidFill>
                  <a:schemeClr val="tx1"/>
                </a:solidFill>
              </a:rPr>
              <a:t>Module 4:</a:t>
            </a:r>
            <a:r>
              <a:rPr lang="en-US" b="1" dirty="0" smtClean="0"/>
              <a:t>Deploy</a:t>
            </a:r>
            <a:r>
              <a:rPr lang="en-IN" dirty="0">
                <a:solidFill>
                  <a:schemeClr val="tx1"/>
                </a:solidFill>
              </a:rPr>
              <a:t/>
            </a:r>
            <a:br>
              <a:rPr lang="en-IN" dirty="0">
                <a:solidFill>
                  <a:schemeClr val="tx1"/>
                </a:solidFill>
              </a:rPr>
            </a:br>
            <a:endParaRPr lang="en-IN" dirty="0">
              <a:solidFill>
                <a:schemeClr val="tx1"/>
              </a:solidFill>
            </a:endParaRPr>
          </a:p>
        </p:txBody>
      </p:sp>
      <p:sp>
        <p:nvSpPr>
          <p:cNvPr id="3" name="Content Placeholder 2"/>
          <p:cNvSpPr>
            <a:spLocks noGrp="1"/>
          </p:cNvSpPr>
          <p:nvPr>
            <p:ph idx="4294967295"/>
          </p:nvPr>
        </p:nvSpPr>
        <p:spPr>
          <a:xfrm>
            <a:off x="762000" y="1752600"/>
            <a:ext cx="6858000" cy="4648200"/>
          </a:xfrm>
        </p:spPr>
        <p:txBody>
          <a:bodyPr/>
          <a:lstStyle/>
          <a:p>
            <a:pPr marL="114300" indent="0">
              <a:buNone/>
            </a:pPr>
            <a:endParaRPr lang="en-US" b="1" dirty="0" smtClean="0"/>
          </a:p>
          <a:p>
            <a:pPr marL="114300" indent="0" algn="just">
              <a:buNone/>
            </a:pPr>
            <a:r>
              <a:rPr lang="en-US" b="1" dirty="0" smtClean="0"/>
              <a:t>Deploying </a:t>
            </a:r>
            <a:r>
              <a:rPr lang="en-US" b="1" dirty="0"/>
              <a:t>the model in </a:t>
            </a:r>
            <a:r>
              <a:rPr lang="en-US" b="1" dirty="0" err="1"/>
              <a:t>Django</a:t>
            </a:r>
            <a:r>
              <a:rPr lang="en-US" b="1" dirty="0"/>
              <a:t> Framework and predicting </a:t>
            </a:r>
            <a:r>
              <a:rPr lang="en-US" b="1" dirty="0" smtClean="0"/>
              <a:t>output</a:t>
            </a:r>
            <a:endParaRPr lang="en-IN" dirty="0"/>
          </a:p>
          <a:p>
            <a:pPr marL="114300" indent="0" algn="just">
              <a:buNone/>
            </a:pPr>
            <a:r>
              <a:rPr lang="en-IN" dirty="0" smtClean="0"/>
              <a:t>	</a:t>
            </a:r>
            <a:r>
              <a:rPr lang="en-US" dirty="0"/>
              <a:t>In this module the trained deep learning model is converted into hierarchical data format file (.h5 file) which is then deployed in our </a:t>
            </a:r>
            <a:r>
              <a:rPr lang="en-US" dirty="0" err="1"/>
              <a:t>django</a:t>
            </a:r>
            <a:r>
              <a:rPr lang="en-US" dirty="0"/>
              <a:t> framework for providing better user interface and predicting the output whether the given image </a:t>
            </a:r>
            <a:r>
              <a:rPr lang="en-US" dirty="0" smtClean="0"/>
              <a:t>is human feelings.</a:t>
            </a:r>
            <a:endParaRPr lang="en-IN" dirty="0"/>
          </a:p>
          <a:p>
            <a:pPr marL="114300" indent="0" algn="just">
              <a:buNone/>
            </a:pPr>
            <a:endParaRPr lang="en-IN" dirty="0"/>
          </a:p>
        </p:txBody>
      </p:sp>
    </p:spTree>
    <p:extLst>
      <p:ext uri="{BB962C8B-B14F-4D97-AF65-F5344CB8AC3E}">
        <p14:creationId xmlns:p14="http://schemas.microsoft.com/office/powerpoint/2010/main" val="7095895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304800" y="304800"/>
            <a:ext cx="7620000" cy="11430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en-US" sz="4000" kern="1200" cap="none" spc="0" baseline="0" dirty="0">
                <a:solidFill>
                  <a:schemeClr val="tx1">
                    <a:lumMod val="85000"/>
                    <a:lumOff val="15000"/>
                  </a:schemeClr>
                </a:solidFill>
                <a:effectLst/>
                <a:latin typeface="+mj-lt"/>
                <a:ea typeface="+mn-ea"/>
                <a:cs typeface="+mn-cs"/>
              </a:defRPr>
            </a:lvl1pPr>
          </a:lstStyle>
          <a:p>
            <a:r>
              <a:rPr lang="en-IN" sz="4400" b="1" dirty="0" smtClean="0">
                <a:solidFill>
                  <a:schemeClr val="tx1"/>
                </a:solidFill>
                <a:latin typeface="Times New Roman" panose="02020603050405020304" pitchFamily="18" charset="0"/>
                <a:cs typeface="Times New Roman" panose="02020603050405020304" pitchFamily="18" charset="0"/>
              </a:rPr>
              <a:t> </a:t>
            </a:r>
            <a:r>
              <a:rPr lang="en-IN" sz="4400" dirty="0" smtClean="0">
                <a:solidFill>
                  <a:schemeClr val="tx1"/>
                </a:solidFill>
                <a:latin typeface="Times New Roman" panose="02020603050405020304" pitchFamily="18" charset="0"/>
                <a:cs typeface="Times New Roman" panose="02020603050405020304" pitchFamily="18" charset="0"/>
              </a:rPr>
              <a:t/>
            </a:r>
            <a:br>
              <a:rPr lang="en-IN" sz="4400" dirty="0" smtClean="0">
                <a:solidFill>
                  <a:schemeClr val="tx1"/>
                </a:solidFill>
                <a:latin typeface="Times New Roman" panose="02020603050405020304" pitchFamily="18" charset="0"/>
                <a:cs typeface="Times New Roman" panose="02020603050405020304" pitchFamily="18" charset="0"/>
              </a:rPr>
            </a:br>
            <a:r>
              <a:rPr lang="en-IN" sz="4400" dirty="0" smtClean="0">
                <a:solidFill>
                  <a:schemeClr val="tx1"/>
                </a:solidFill>
                <a:latin typeface="Times New Roman" panose="02020603050405020304" pitchFamily="18" charset="0"/>
                <a:cs typeface="Times New Roman" panose="02020603050405020304" pitchFamily="18" charset="0"/>
              </a:rPr>
              <a:t>SCREEN SHOT</a:t>
            </a:r>
            <a:br>
              <a:rPr lang="en-IN" sz="4400" dirty="0" smtClean="0">
                <a:solidFill>
                  <a:schemeClr val="tx1"/>
                </a:solidFill>
                <a:latin typeface="Times New Roman" panose="02020603050405020304" pitchFamily="18" charset="0"/>
                <a:cs typeface="Times New Roman" panose="02020603050405020304" pitchFamily="18" charset="0"/>
              </a:rPr>
            </a:br>
            <a:endParaRPr lang="en-IN" sz="4400"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143000" y="1905000"/>
            <a:ext cx="6781800" cy="4491451"/>
          </a:xfrm>
          <a:prstGeom prst="rect">
            <a:avLst/>
          </a:prstGeom>
        </p:spPr>
      </p:pic>
    </p:spTree>
    <p:extLst>
      <p:ext uri="{BB962C8B-B14F-4D97-AF65-F5344CB8AC3E}">
        <p14:creationId xmlns:p14="http://schemas.microsoft.com/office/powerpoint/2010/main" val="7887878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304800" y="304800"/>
            <a:ext cx="7620000" cy="1143000"/>
          </a:xfrm>
          <a:prstGeom prst="rect">
            <a:avLst/>
          </a:prstGeom>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lang="en-US" sz="4000" kern="1200" cap="none" spc="0" baseline="0" dirty="0">
                <a:solidFill>
                  <a:schemeClr val="tx1">
                    <a:lumMod val="85000"/>
                    <a:lumOff val="15000"/>
                  </a:schemeClr>
                </a:solidFill>
                <a:effectLst/>
                <a:latin typeface="+mj-lt"/>
                <a:ea typeface="+mn-ea"/>
                <a:cs typeface="+mn-cs"/>
              </a:defRPr>
            </a:lvl1pPr>
          </a:lstStyle>
          <a:p>
            <a:r>
              <a:rPr lang="en-IN" b="1" dirty="0">
                <a:solidFill>
                  <a:schemeClr val="tx1"/>
                </a:solidFill>
                <a:latin typeface="Times New Roman" panose="02020603050405020304" pitchFamily="18" charset="0"/>
                <a:cs typeface="Times New Roman" panose="02020603050405020304" pitchFamily="18" charset="0"/>
              </a:rPr>
              <a:t> </a:t>
            </a:r>
            <a:r>
              <a:rPr lang="en-IN" dirty="0">
                <a:solidFill>
                  <a:schemeClr val="tx1"/>
                </a:solidFill>
                <a:latin typeface="Times New Roman" panose="02020603050405020304" pitchFamily="18" charset="0"/>
                <a:cs typeface="Times New Roman" panose="02020603050405020304" pitchFamily="18" charset="0"/>
              </a:rPr>
              <a:t/>
            </a:r>
            <a:br>
              <a:rPr lang="en-IN" dirty="0">
                <a:solidFill>
                  <a:schemeClr val="tx1"/>
                </a:solidFill>
                <a:latin typeface="Times New Roman" panose="02020603050405020304" pitchFamily="18" charset="0"/>
                <a:cs typeface="Times New Roman" panose="02020603050405020304" pitchFamily="18" charset="0"/>
              </a:rPr>
            </a:br>
            <a:r>
              <a:rPr lang="en-IN" dirty="0">
                <a:solidFill>
                  <a:schemeClr val="tx1"/>
                </a:solidFill>
                <a:latin typeface="Times New Roman" panose="02020603050405020304" pitchFamily="18" charset="0"/>
                <a:cs typeface="Times New Roman" panose="02020603050405020304" pitchFamily="18" charset="0"/>
              </a:rPr>
              <a:t>SCREEN SHOT</a:t>
            </a:r>
            <a:br>
              <a:rPr lang="en-IN" dirty="0">
                <a:solidFill>
                  <a:schemeClr val="tx1"/>
                </a:solidFill>
                <a:latin typeface="Times New Roman" panose="02020603050405020304" pitchFamily="18" charset="0"/>
                <a:cs typeface="Times New Roman" panose="02020603050405020304" pitchFamily="18" charset="0"/>
              </a:rPr>
            </a:br>
            <a:endParaRPr lang="en-IN"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066800" y="1447800"/>
            <a:ext cx="7010400" cy="4743835"/>
          </a:xfrm>
          <a:prstGeom prst="rect">
            <a:avLst/>
          </a:prstGeom>
        </p:spPr>
      </p:pic>
    </p:spTree>
    <p:extLst>
      <p:ext uri="{BB962C8B-B14F-4D97-AF65-F5344CB8AC3E}">
        <p14:creationId xmlns:p14="http://schemas.microsoft.com/office/powerpoint/2010/main" val="37723972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304800" y="304800"/>
            <a:ext cx="7620000" cy="1143000"/>
          </a:xfrm>
          <a:prstGeom prst="rect">
            <a:avLst/>
          </a:prstGeom>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lang="en-US" sz="4000" kern="1200" cap="none" spc="0" baseline="0" dirty="0">
                <a:solidFill>
                  <a:schemeClr val="tx1">
                    <a:lumMod val="85000"/>
                    <a:lumOff val="15000"/>
                  </a:schemeClr>
                </a:solidFill>
                <a:effectLst/>
                <a:latin typeface="+mj-lt"/>
                <a:ea typeface="+mn-ea"/>
                <a:cs typeface="+mn-cs"/>
              </a:defRPr>
            </a:lvl1pPr>
          </a:lstStyle>
          <a:p>
            <a:r>
              <a:rPr lang="en-IN" b="1" dirty="0">
                <a:solidFill>
                  <a:schemeClr val="tx1"/>
                </a:solidFill>
                <a:latin typeface="Times New Roman" panose="02020603050405020304" pitchFamily="18" charset="0"/>
                <a:cs typeface="Times New Roman" panose="02020603050405020304" pitchFamily="18" charset="0"/>
              </a:rPr>
              <a:t> </a:t>
            </a:r>
            <a:r>
              <a:rPr lang="en-IN" dirty="0">
                <a:solidFill>
                  <a:schemeClr val="tx1"/>
                </a:solidFill>
                <a:latin typeface="Times New Roman" panose="02020603050405020304" pitchFamily="18" charset="0"/>
                <a:cs typeface="Times New Roman" panose="02020603050405020304" pitchFamily="18" charset="0"/>
              </a:rPr>
              <a:t/>
            </a:r>
            <a:br>
              <a:rPr lang="en-IN" dirty="0">
                <a:solidFill>
                  <a:schemeClr val="tx1"/>
                </a:solidFill>
                <a:latin typeface="Times New Roman" panose="02020603050405020304" pitchFamily="18" charset="0"/>
                <a:cs typeface="Times New Roman" panose="02020603050405020304" pitchFamily="18" charset="0"/>
              </a:rPr>
            </a:br>
            <a:r>
              <a:rPr lang="en-IN" dirty="0">
                <a:solidFill>
                  <a:schemeClr val="tx1"/>
                </a:solidFill>
                <a:latin typeface="Times New Roman" panose="02020603050405020304" pitchFamily="18" charset="0"/>
                <a:cs typeface="Times New Roman" panose="02020603050405020304" pitchFamily="18" charset="0"/>
              </a:rPr>
              <a:t>SCREEN SHOT</a:t>
            </a:r>
            <a:br>
              <a:rPr lang="en-IN" dirty="0">
                <a:solidFill>
                  <a:schemeClr val="tx1"/>
                </a:solidFill>
                <a:latin typeface="Times New Roman" panose="02020603050405020304" pitchFamily="18" charset="0"/>
                <a:cs typeface="Times New Roman" panose="02020603050405020304" pitchFamily="18" charset="0"/>
              </a:rPr>
            </a:br>
            <a:endParaRPr lang="en-IN"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533400" y="1219200"/>
            <a:ext cx="8187508" cy="5229955"/>
          </a:xfrm>
          <a:prstGeom prst="rect">
            <a:avLst/>
          </a:prstGeom>
        </p:spPr>
      </p:pic>
    </p:spTree>
    <p:extLst>
      <p:ext uri="{BB962C8B-B14F-4D97-AF65-F5344CB8AC3E}">
        <p14:creationId xmlns:p14="http://schemas.microsoft.com/office/powerpoint/2010/main" val="10755117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304800" y="304800"/>
            <a:ext cx="7620000" cy="1143000"/>
          </a:xfrm>
          <a:prstGeom prst="rect">
            <a:avLst/>
          </a:prstGeom>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lang="en-US" sz="4000" kern="1200" cap="none" spc="0" baseline="0" dirty="0">
                <a:solidFill>
                  <a:schemeClr val="tx1">
                    <a:lumMod val="85000"/>
                    <a:lumOff val="15000"/>
                  </a:schemeClr>
                </a:solidFill>
                <a:effectLst/>
                <a:latin typeface="+mj-lt"/>
                <a:ea typeface="+mn-ea"/>
                <a:cs typeface="+mn-cs"/>
              </a:defRPr>
            </a:lvl1pPr>
          </a:lstStyle>
          <a:p>
            <a:r>
              <a:rPr lang="en-IN" b="1" dirty="0">
                <a:solidFill>
                  <a:schemeClr val="tx1"/>
                </a:solidFill>
                <a:latin typeface="Times New Roman" panose="02020603050405020304" pitchFamily="18" charset="0"/>
                <a:cs typeface="Times New Roman" panose="02020603050405020304" pitchFamily="18" charset="0"/>
              </a:rPr>
              <a:t> </a:t>
            </a:r>
            <a:r>
              <a:rPr lang="en-IN" dirty="0">
                <a:solidFill>
                  <a:schemeClr val="tx1"/>
                </a:solidFill>
                <a:latin typeface="Times New Roman" panose="02020603050405020304" pitchFamily="18" charset="0"/>
                <a:cs typeface="Times New Roman" panose="02020603050405020304" pitchFamily="18" charset="0"/>
              </a:rPr>
              <a:t/>
            </a:r>
            <a:br>
              <a:rPr lang="en-IN" dirty="0">
                <a:solidFill>
                  <a:schemeClr val="tx1"/>
                </a:solidFill>
                <a:latin typeface="Times New Roman" panose="02020603050405020304" pitchFamily="18" charset="0"/>
                <a:cs typeface="Times New Roman" panose="02020603050405020304" pitchFamily="18" charset="0"/>
              </a:rPr>
            </a:br>
            <a:r>
              <a:rPr lang="en-IN" dirty="0">
                <a:solidFill>
                  <a:schemeClr val="tx1"/>
                </a:solidFill>
                <a:latin typeface="Times New Roman" panose="02020603050405020304" pitchFamily="18" charset="0"/>
                <a:cs typeface="Times New Roman" panose="02020603050405020304" pitchFamily="18" charset="0"/>
              </a:rPr>
              <a:t>SCREEN SHOT</a:t>
            </a:r>
            <a:br>
              <a:rPr lang="en-IN" dirty="0">
                <a:solidFill>
                  <a:schemeClr val="tx1"/>
                </a:solidFill>
                <a:latin typeface="Times New Roman" panose="02020603050405020304" pitchFamily="18" charset="0"/>
                <a:cs typeface="Times New Roman" panose="02020603050405020304" pitchFamily="18" charset="0"/>
              </a:rPr>
            </a:br>
            <a:endParaRPr lang="en-IN"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533400" y="1600200"/>
            <a:ext cx="8001000" cy="4729567"/>
          </a:xfrm>
          <a:prstGeom prst="rect">
            <a:avLst/>
          </a:prstGeom>
        </p:spPr>
      </p:pic>
    </p:spTree>
    <p:extLst>
      <p:ext uri="{BB962C8B-B14F-4D97-AF65-F5344CB8AC3E}">
        <p14:creationId xmlns:p14="http://schemas.microsoft.com/office/powerpoint/2010/main" val="8302317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304800" y="304800"/>
            <a:ext cx="7620000" cy="1143000"/>
          </a:xfrm>
          <a:prstGeom prst="rect">
            <a:avLst/>
          </a:prstGeom>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lang="en-US" sz="4000" kern="1200" cap="none" spc="0" baseline="0" dirty="0">
                <a:solidFill>
                  <a:schemeClr val="tx1">
                    <a:lumMod val="85000"/>
                    <a:lumOff val="15000"/>
                  </a:schemeClr>
                </a:solidFill>
                <a:effectLst/>
                <a:latin typeface="+mj-lt"/>
                <a:ea typeface="+mn-ea"/>
                <a:cs typeface="+mn-cs"/>
              </a:defRPr>
            </a:lvl1pPr>
          </a:lstStyle>
          <a:p>
            <a:r>
              <a:rPr lang="en-IN" b="1" dirty="0">
                <a:solidFill>
                  <a:schemeClr val="tx1"/>
                </a:solidFill>
                <a:latin typeface="Times New Roman" panose="02020603050405020304" pitchFamily="18" charset="0"/>
                <a:cs typeface="Times New Roman" panose="02020603050405020304" pitchFamily="18" charset="0"/>
              </a:rPr>
              <a:t> </a:t>
            </a:r>
            <a:r>
              <a:rPr lang="en-IN" dirty="0">
                <a:solidFill>
                  <a:schemeClr val="tx1"/>
                </a:solidFill>
                <a:latin typeface="Times New Roman" panose="02020603050405020304" pitchFamily="18" charset="0"/>
                <a:cs typeface="Times New Roman" panose="02020603050405020304" pitchFamily="18" charset="0"/>
              </a:rPr>
              <a:t/>
            </a:r>
            <a:br>
              <a:rPr lang="en-IN" dirty="0">
                <a:solidFill>
                  <a:schemeClr val="tx1"/>
                </a:solidFill>
                <a:latin typeface="Times New Roman" panose="02020603050405020304" pitchFamily="18" charset="0"/>
                <a:cs typeface="Times New Roman" panose="02020603050405020304" pitchFamily="18" charset="0"/>
              </a:rPr>
            </a:br>
            <a:r>
              <a:rPr lang="en-IN" dirty="0">
                <a:solidFill>
                  <a:schemeClr val="tx1"/>
                </a:solidFill>
                <a:latin typeface="Times New Roman" panose="02020603050405020304" pitchFamily="18" charset="0"/>
                <a:cs typeface="Times New Roman" panose="02020603050405020304" pitchFamily="18" charset="0"/>
              </a:rPr>
              <a:t>SCREEN SHOT</a:t>
            </a:r>
            <a:br>
              <a:rPr lang="en-IN" dirty="0">
                <a:solidFill>
                  <a:schemeClr val="tx1"/>
                </a:solidFill>
                <a:latin typeface="Times New Roman" panose="02020603050405020304" pitchFamily="18" charset="0"/>
                <a:cs typeface="Times New Roman" panose="02020603050405020304" pitchFamily="18" charset="0"/>
              </a:rPr>
            </a:br>
            <a:endParaRPr lang="en-IN"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066800" y="1420504"/>
            <a:ext cx="5867400" cy="4724804"/>
          </a:xfrm>
          <a:prstGeom prst="rect">
            <a:avLst/>
          </a:prstGeom>
        </p:spPr>
      </p:pic>
    </p:spTree>
    <p:extLst>
      <p:ext uri="{BB962C8B-B14F-4D97-AF65-F5344CB8AC3E}">
        <p14:creationId xmlns:p14="http://schemas.microsoft.com/office/powerpoint/2010/main" val="885625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304800" y="304800"/>
            <a:ext cx="7620000" cy="1143000"/>
          </a:xfrm>
          <a:prstGeom prst="rect">
            <a:avLst/>
          </a:prstGeom>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lang="en-US" sz="4000" kern="1200" cap="none" spc="0" baseline="0" dirty="0">
                <a:solidFill>
                  <a:schemeClr val="tx1">
                    <a:lumMod val="85000"/>
                    <a:lumOff val="15000"/>
                  </a:schemeClr>
                </a:solidFill>
                <a:effectLst/>
                <a:latin typeface="+mj-lt"/>
                <a:ea typeface="+mn-ea"/>
                <a:cs typeface="+mn-cs"/>
              </a:defRPr>
            </a:lvl1pPr>
          </a:lstStyle>
          <a:p>
            <a:r>
              <a:rPr lang="en-IN" b="1" dirty="0">
                <a:solidFill>
                  <a:schemeClr val="tx1"/>
                </a:solidFill>
                <a:latin typeface="Times New Roman" panose="02020603050405020304" pitchFamily="18" charset="0"/>
                <a:cs typeface="Times New Roman" panose="02020603050405020304" pitchFamily="18" charset="0"/>
              </a:rPr>
              <a:t> </a:t>
            </a:r>
            <a:r>
              <a:rPr lang="en-IN" dirty="0">
                <a:solidFill>
                  <a:schemeClr val="tx1"/>
                </a:solidFill>
                <a:latin typeface="Times New Roman" panose="02020603050405020304" pitchFamily="18" charset="0"/>
                <a:cs typeface="Times New Roman" panose="02020603050405020304" pitchFamily="18" charset="0"/>
              </a:rPr>
              <a:t/>
            </a:r>
            <a:br>
              <a:rPr lang="en-IN" dirty="0">
                <a:solidFill>
                  <a:schemeClr val="tx1"/>
                </a:solidFill>
                <a:latin typeface="Times New Roman" panose="02020603050405020304" pitchFamily="18" charset="0"/>
                <a:cs typeface="Times New Roman" panose="02020603050405020304" pitchFamily="18" charset="0"/>
              </a:rPr>
            </a:br>
            <a:r>
              <a:rPr lang="en-IN" dirty="0">
                <a:solidFill>
                  <a:schemeClr val="tx1"/>
                </a:solidFill>
                <a:latin typeface="Times New Roman" panose="02020603050405020304" pitchFamily="18" charset="0"/>
                <a:cs typeface="Times New Roman" panose="02020603050405020304" pitchFamily="18" charset="0"/>
              </a:rPr>
              <a:t>SCREEN SHOT</a:t>
            </a:r>
            <a:br>
              <a:rPr lang="en-IN" dirty="0">
                <a:solidFill>
                  <a:schemeClr val="tx1"/>
                </a:solidFill>
                <a:latin typeface="Times New Roman" panose="02020603050405020304" pitchFamily="18" charset="0"/>
                <a:cs typeface="Times New Roman" panose="02020603050405020304" pitchFamily="18" charset="0"/>
              </a:rPr>
            </a:br>
            <a:endParaRPr lang="en-IN"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219199" y="1676400"/>
            <a:ext cx="6324601" cy="4567630"/>
          </a:xfrm>
          <a:prstGeom prst="rect">
            <a:avLst/>
          </a:prstGeom>
        </p:spPr>
      </p:pic>
    </p:spTree>
    <p:extLst>
      <p:ext uri="{BB962C8B-B14F-4D97-AF65-F5344CB8AC3E}">
        <p14:creationId xmlns:p14="http://schemas.microsoft.com/office/powerpoint/2010/main" val="13077267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304800" y="304800"/>
            <a:ext cx="7620000" cy="1143000"/>
          </a:xfrm>
          <a:prstGeom prst="rect">
            <a:avLst/>
          </a:prstGeom>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lang="en-US" sz="4000" kern="1200" cap="none" spc="0" baseline="0" dirty="0">
                <a:solidFill>
                  <a:schemeClr val="tx1">
                    <a:lumMod val="85000"/>
                    <a:lumOff val="15000"/>
                  </a:schemeClr>
                </a:solidFill>
                <a:effectLst/>
                <a:latin typeface="+mj-lt"/>
                <a:ea typeface="+mn-ea"/>
                <a:cs typeface="+mn-cs"/>
              </a:defRPr>
            </a:lvl1pPr>
          </a:lstStyle>
          <a:p>
            <a:r>
              <a:rPr lang="en-IN" b="1" dirty="0">
                <a:solidFill>
                  <a:schemeClr val="tx1"/>
                </a:solidFill>
                <a:latin typeface="Times New Roman" panose="02020603050405020304" pitchFamily="18" charset="0"/>
                <a:cs typeface="Times New Roman" panose="02020603050405020304" pitchFamily="18" charset="0"/>
              </a:rPr>
              <a:t> </a:t>
            </a:r>
            <a:r>
              <a:rPr lang="en-IN" dirty="0">
                <a:solidFill>
                  <a:schemeClr val="tx1"/>
                </a:solidFill>
                <a:latin typeface="Times New Roman" panose="02020603050405020304" pitchFamily="18" charset="0"/>
                <a:cs typeface="Times New Roman" panose="02020603050405020304" pitchFamily="18" charset="0"/>
              </a:rPr>
              <a:t/>
            </a:r>
            <a:br>
              <a:rPr lang="en-IN" dirty="0">
                <a:solidFill>
                  <a:schemeClr val="tx1"/>
                </a:solidFill>
                <a:latin typeface="Times New Roman" panose="02020603050405020304" pitchFamily="18" charset="0"/>
                <a:cs typeface="Times New Roman" panose="02020603050405020304" pitchFamily="18" charset="0"/>
              </a:rPr>
            </a:br>
            <a:r>
              <a:rPr lang="en-IN" dirty="0">
                <a:solidFill>
                  <a:schemeClr val="tx1"/>
                </a:solidFill>
                <a:latin typeface="Times New Roman" panose="02020603050405020304" pitchFamily="18" charset="0"/>
                <a:cs typeface="Times New Roman" panose="02020603050405020304" pitchFamily="18" charset="0"/>
              </a:rPr>
              <a:t>SCREEN SHOT</a:t>
            </a:r>
            <a:br>
              <a:rPr lang="en-IN" dirty="0">
                <a:solidFill>
                  <a:schemeClr val="tx1"/>
                </a:solidFill>
                <a:latin typeface="Times New Roman" panose="02020603050405020304" pitchFamily="18" charset="0"/>
                <a:cs typeface="Times New Roman" panose="02020603050405020304" pitchFamily="18" charset="0"/>
              </a:rPr>
            </a:br>
            <a:endParaRPr lang="en-IN"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p:nvPr/>
        </p:nvPicPr>
        <p:blipFill>
          <a:blip r:embed="rId2"/>
          <a:stretch>
            <a:fillRect/>
          </a:stretch>
        </p:blipFill>
        <p:spPr>
          <a:xfrm>
            <a:off x="1706245" y="2166937"/>
            <a:ext cx="5731510" cy="2524125"/>
          </a:xfrm>
          <a:prstGeom prst="rect">
            <a:avLst/>
          </a:prstGeom>
        </p:spPr>
      </p:pic>
    </p:spTree>
    <p:extLst>
      <p:ext uri="{BB962C8B-B14F-4D97-AF65-F5344CB8AC3E}">
        <p14:creationId xmlns:p14="http://schemas.microsoft.com/office/powerpoint/2010/main" val="2528141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304800" y="304800"/>
            <a:ext cx="7620000" cy="1143000"/>
          </a:xfrm>
          <a:prstGeom prst="rect">
            <a:avLst/>
          </a:prstGeom>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lang="en-US" sz="4000" kern="1200" cap="none" spc="0" baseline="0" dirty="0">
                <a:solidFill>
                  <a:schemeClr val="tx1">
                    <a:lumMod val="85000"/>
                    <a:lumOff val="15000"/>
                  </a:schemeClr>
                </a:solidFill>
                <a:effectLst/>
                <a:latin typeface="+mj-lt"/>
                <a:ea typeface="+mn-ea"/>
                <a:cs typeface="+mn-cs"/>
              </a:defRPr>
            </a:lvl1pPr>
          </a:lstStyle>
          <a:p>
            <a:r>
              <a:rPr lang="en-IN" b="1" dirty="0">
                <a:solidFill>
                  <a:schemeClr val="tx1"/>
                </a:solidFill>
                <a:latin typeface="Times New Roman" panose="02020603050405020304" pitchFamily="18" charset="0"/>
                <a:cs typeface="Times New Roman" panose="02020603050405020304" pitchFamily="18" charset="0"/>
              </a:rPr>
              <a:t> </a:t>
            </a:r>
            <a:r>
              <a:rPr lang="en-IN" dirty="0">
                <a:solidFill>
                  <a:schemeClr val="tx1"/>
                </a:solidFill>
                <a:latin typeface="Times New Roman" panose="02020603050405020304" pitchFamily="18" charset="0"/>
                <a:cs typeface="Times New Roman" panose="02020603050405020304" pitchFamily="18" charset="0"/>
              </a:rPr>
              <a:t/>
            </a:r>
            <a:br>
              <a:rPr lang="en-IN" dirty="0">
                <a:solidFill>
                  <a:schemeClr val="tx1"/>
                </a:solidFill>
                <a:latin typeface="Times New Roman" panose="02020603050405020304" pitchFamily="18" charset="0"/>
                <a:cs typeface="Times New Roman" panose="02020603050405020304" pitchFamily="18" charset="0"/>
              </a:rPr>
            </a:br>
            <a:r>
              <a:rPr lang="en-IN" dirty="0">
                <a:solidFill>
                  <a:schemeClr val="tx1"/>
                </a:solidFill>
                <a:latin typeface="Times New Roman" panose="02020603050405020304" pitchFamily="18" charset="0"/>
                <a:cs typeface="Times New Roman" panose="02020603050405020304" pitchFamily="18" charset="0"/>
              </a:rPr>
              <a:t>SCREEN SHOT</a:t>
            </a:r>
            <a:br>
              <a:rPr lang="en-IN" dirty="0">
                <a:solidFill>
                  <a:schemeClr val="tx1"/>
                </a:solidFill>
                <a:latin typeface="Times New Roman" panose="02020603050405020304" pitchFamily="18" charset="0"/>
                <a:cs typeface="Times New Roman" panose="02020603050405020304" pitchFamily="18" charset="0"/>
              </a:rPr>
            </a:br>
            <a:endParaRPr lang="en-IN"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p:nvPr/>
        </p:nvPicPr>
        <p:blipFill>
          <a:blip r:embed="rId2"/>
          <a:stretch>
            <a:fillRect/>
          </a:stretch>
        </p:blipFill>
        <p:spPr>
          <a:xfrm>
            <a:off x="960167" y="1447800"/>
            <a:ext cx="6980555" cy="3386455"/>
          </a:xfrm>
          <a:prstGeom prst="rect">
            <a:avLst/>
          </a:prstGeom>
        </p:spPr>
      </p:pic>
    </p:spTree>
    <p:extLst>
      <p:ext uri="{BB962C8B-B14F-4D97-AF65-F5344CB8AC3E}">
        <p14:creationId xmlns:p14="http://schemas.microsoft.com/office/powerpoint/2010/main" val="16495554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304800" y="304800"/>
            <a:ext cx="7620000" cy="1143000"/>
          </a:xfrm>
          <a:prstGeom prst="rect">
            <a:avLst/>
          </a:prstGeom>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lang="en-US" sz="4000" kern="1200" cap="none" spc="0" baseline="0" dirty="0">
                <a:solidFill>
                  <a:schemeClr val="tx1">
                    <a:lumMod val="85000"/>
                    <a:lumOff val="15000"/>
                  </a:schemeClr>
                </a:solidFill>
                <a:effectLst/>
                <a:latin typeface="+mj-lt"/>
                <a:ea typeface="+mn-ea"/>
                <a:cs typeface="+mn-cs"/>
              </a:defRPr>
            </a:lvl1pPr>
          </a:lstStyle>
          <a:p>
            <a:r>
              <a:rPr lang="en-IN" b="1" dirty="0">
                <a:solidFill>
                  <a:schemeClr val="tx1"/>
                </a:solidFill>
                <a:latin typeface="Times New Roman" panose="02020603050405020304" pitchFamily="18" charset="0"/>
                <a:cs typeface="Times New Roman" panose="02020603050405020304" pitchFamily="18" charset="0"/>
              </a:rPr>
              <a:t> </a:t>
            </a:r>
            <a:r>
              <a:rPr lang="en-IN" dirty="0">
                <a:solidFill>
                  <a:schemeClr val="tx1"/>
                </a:solidFill>
                <a:latin typeface="Times New Roman" panose="02020603050405020304" pitchFamily="18" charset="0"/>
                <a:cs typeface="Times New Roman" panose="02020603050405020304" pitchFamily="18" charset="0"/>
              </a:rPr>
              <a:t/>
            </a:r>
            <a:br>
              <a:rPr lang="en-IN" dirty="0">
                <a:solidFill>
                  <a:schemeClr val="tx1"/>
                </a:solidFill>
                <a:latin typeface="Times New Roman" panose="02020603050405020304" pitchFamily="18" charset="0"/>
                <a:cs typeface="Times New Roman" panose="02020603050405020304" pitchFamily="18" charset="0"/>
              </a:rPr>
            </a:br>
            <a:r>
              <a:rPr lang="en-IN" dirty="0">
                <a:solidFill>
                  <a:schemeClr val="tx1"/>
                </a:solidFill>
                <a:latin typeface="Times New Roman" panose="02020603050405020304" pitchFamily="18" charset="0"/>
                <a:cs typeface="Times New Roman" panose="02020603050405020304" pitchFamily="18" charset="0"/>
              </a:rPr>
              <a:t>SCREEN SHOT</a:t>
            </a:r>
            <a:br>
              <a:rPr lang="en-IN" dirty="0">
                <a:solidFill>
                  <a:schemeClr val="tx1"/>
                </a:solidFill>
                <a:latin typeface="Times New Roman" panose="02020603050405020304" pitchFamily="18" charset="0"/>
                <a:cs typeface="Times New Roman" panose="02020603050405020304" pitchFamily="18" charset="0"/>
              </a:rPr>
            </a:br>
            <a:endParaRPr lang="en-IN"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p:nvPr/>
        </p:nvPicPr>
        <p:blipFill>
          <a:blip r:embed="rId2"/>
          <a:stretch>
            <a:fillRect/>
          </a:stretch>
        </p:blipFill>
        <p:spPr>
          <a:xfrm>
            <a:off x="762000" y="2216785"/>
            <a:ext cx="6675755" cy="2424430"/>
          </a:xfrm>
          <a:prstGeom prst="rect">
            <a:avLst/>
          </a:prstGeom>
        </p:spPr>
      </p:pic>
    </p:spTree>
    <p:extLst>
      <p:ext uri="{BB962C8B-B14F-4D97-AF65-F5344CB8AC3E}">
        <p14:creationId xmlns:p14="http://schemas.microsoft.com/office/powerpoint/2010/main" val="15242513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304800" y="304800"/>
            <a:ext cx="7620000" cy="1143000"/>
          </a:xfrm>
          <a:prstGeom prst="rect">
            <a:avLst/>
          </a:prstGeom>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lang="en-US" sz="4000" kern="1200" cap="none" spc="0" baseline="0" dirty="0">
                <a:solidFill>
                  <a:schemeClr val="tx1">
                    <a:lumMod val="85000"/>
                    <a:lumOff val="15000"/>
                  </a:schemeClr>
                </a:solidFill>
                <a:effectLst/>
                <a:latin typeface="+mj-lt"/>
                <a:ea typeface="+mn-ea"/>
                <a:cs typeface="+mn-cs"/>
              </a:defRPr>
            </a:lvl1pPr>
          </a:lstStyle>
          <a:p>
            <a:r>
              <a:rPr lang="en-IN" b="1" dirty="0">
                <a:solidFill>
                  <a:schemeClr val="tx1"/>
                </a:solidFill>
                <a:latin typeface="Times New Roman" panose="02020603050405020304" pitchFamily="18" charset="0"/>
                <a:cs typeface="Times New Roman" panose="02020603050405020304" pitchFamily="18" charset="0"/>
              </a:rPr>
              <a:t> </a:t>
            </a:r>
            <a:r>
              <a:rPr lang="en-IN" dirty="0">
                <a:solidFill>
                  <a:schemeClr val="tx1"/>
                </a:solidFill>
                <a:latin typeface="Times New Roman" panose="02020603050405020304" pitchFamily="18" charset="0"/>
                <a:cs typeface="Times New Roman" panose="02020603050405020304" pitchFamily="18" charset="0"/>
              </a:rPr>
              <a:t/>
            </a:r>
            <a:br>
              <a:rPr lang="en-IN" dirty="0">
                <a:solidFill>
                  <a:schemeClr val="tx1"/>
                </a:solidFill>
                <a:latin typeface="Times New Roman" panose="02020603050405020304" pitchFamily="18" charset="0"/>
                <a:cs typeface="Times New Roman" panose="02020603050405020304" pitchFamily="18" charset="0"/>
              </a:rPr>
            </a:br>
            <a:r>
              <a:rPr lang="en-IN" dirty="0">
                <a:solidFill>
                  <a:schemeClr val="tx1"/>
                </a:solidFill>
                <a:latin typeface="Times New Roman" panose="02020603050405020304" pitchFamily="18" charset="0"/>
                <a:cs typeface="Times New Roman" panose="02020603050405020304" pitchFamily="18" charset="0"/>
              </a:rPr>
              <a:t>SCREEN SHOT</a:t>
            </a:r>
            <a:br>
              <a:rPr lang="en-IN" dirty="0">
                <a:solidFill>
                  <a:schemeClr val="tx1"/>
                </a:solidFill>
                <a:latin typeface="Times New Roman" panose="02020603050405020304" pitchFamily="18" charset="0"/>
                <a:cs typeface="Times New Roman" panose="02020603050405020304" pitchFamily="18" charset="0"/>
              </a:rPr>
            </a:br>
            <a:endParaRPr lang="en-IN" dirty="0">
              <a:solidFill>
                <a:schemeClr val="tx1"/>
              </a:solidFill>
              <a:latin typeface="Times New Roman" panose="02020603050405020304" pitchFamily="18" charset="0"/>
              <a:cs typeface="Times New Roman" panose="02020603050405020304" pitchFamily="18" charset="0"/>
            </a:endParaRPr>
          </a:p>
        </p:txBody>
      </p:sp>
      <p:pic>
        <p:nvPicPr>
          <p:cNvPr id="3" name="Picture 2"/>
          <p:cNvPicPr/>
          <p:nvPr/>
        </p:nvPicPr>
        <p:blipFill>
          <a:blip r:embed="rId2"/>
          <a:stretch>
            <a:fillRect/>
          </a:stretch>
        </p:blipFill>
        <p:spPr>
          <a:xfrm>
            <a:off x="838200" y="2191385"/>
            <a:ext cx="6599555" cy="2475230"/>
          </a:xfrm>
          <a:prstGeom prst="rect">
            <a:avLst/>
          </a:prstGeom>
        </p:spPr>
      </p:pic>
    </p:spTree>
    <p:extLst>
      <p:ext uri="{BB962C8B-B14F-4D97-AF65-F5344CB8AC3E}">
        <p14:creationId xmlns:p14="http://schemas.microsoft.com/office/powerpoint/2010/main" val="29973087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Conclusion:</a:t>
            </a:r>
            <a:endParaRPr lang="en-IN" dirty="0"/>
          </a:p>
        </p:txBody>
      </p:sp>
      <p:sp>
        <p:nvSpPr>
          <p:cNvPr id="3" name="Content Placeholder 2"/>
          <p:cNvSpPr>
            <a:spLocks noGrp="1"/>
          </p:cNvSpPr>
          <p:nvPr>
            <p:ph idx="1"/>
          </p:nvPr>
        </p:nvSpPr>
        <p:spPr/>
        <p:txBody>
          <a:bodyPr>
            <a:normAutofit/>
          </a:bodyPr>
          <a:lstStyle/>
          <a:p>
            <a:r>
              <a:rPr lang="en-US" dirty="0"/>
              <a:t>This project successfully demonstrates the potential of CNN architectures and machine learning in advancing the diagnosis of diabetes. By developing a deep learning model that can accurately analyze medical data, the project contributes to improving early detection and diagnosis. The integration of this model into clinical practice can enhance decision-making, reduce diagnostic errors, and ultimately improve patient outcomes. The results indicate that deep learning, specifically CNNs, can be a valuable tool in the fight against diabetes, offering a more precise and efficient approach to diagnosis.</a:t>
            </a:r>
            <a:r>
              <a:rPr lang="en-US" b="1" dirty="0"/>
              <a:t> </a:t>
            </a:r>
            <a:endParaRPr lang="en-AU" dirty="0"/>
          </a:p>
        </p:txBody>
      </p:sp>
    </p:spTree>
    <p:extLst>
      <p:ext uri="{BB962C8B-B14F-4D97-AF65-F5344CB8AC3E}">
        <p14:creationId xmlns:p14="http://schemas.microsoft.com/office/powerpoint/2010/main" val="42386460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t>Future Work:</a:t>
            </a:r>
            <a:endParaRPr lang="en-IN" sz="3200" b="1" dirty="0"/>
          </a:p>
        </p:txBody>
      </p:sp>
      <p:sp>
        <p:nvSpPr>
          <p:cNvPr id="3" name="Content Placeholder 2"/>
          <p:cNvSpPr>
            <a:spLocks noGrp="1"/>
          </p:cNvSpPr>
          <p:nvPr>
            <p:ph idx="1"/>
          </p:nvPr>
        </p:nvSpPr>
        <p:spPr/>
        <p:txBody>
          <a:bodyPr>
            <a:normAutofit/>
          </a:bodyPr>
          <a:lstStyle/>
          <a:p>
            <a:pPr lvl="0"/>
            <a:r>
              <a:rPr lang="en-US" dirty="0"/>
              <a:t>We can deploy the model in any cloud-based system.</a:t>
            </a:r>
            <a:endParaRPr lang="en-AU" dirty="0"/>
          </a:p>
          <a:p>
            <a:pPr lvl="0"/>
            <a:r>
              <a:rPr lang="en-US" dirty="0"/>
              <a:t>We can connect this model to the hardware.</a:t>
            </a:r>
            <a:endParaRPr lang="en-AU" dirty="0"/>
          </a:p>
        </p:txBody>
      </p:sp>
    </p:spTree>
    <p:extLst>
      <p:ext uri="{BB962C8B-B14F-4D97-AF65-F5344CB8AC3E}">
        <p14:creationId xmlns:p14="http://schemas.microsoft.com/office/powerpoint/2010/main" val="342120275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TM03457510[[fn=Savon]]</Template>
  <TotalTime>1125</TotalTime>
  <Words>2072</Words>
  <Application>Microsoft Office PowerPoint</Application>
  <PresentationFormat>On-screen Show (4:3)</PresentationFormat>
  <Paragraphs>144</Paragraphs>
  <Slides>43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43</vt:i4>
      </vt:variant>
    </vt:vector>
  </HeadingPairs>
  <TitlesOfParts>
    <vt:vector size="51" baseType="lpstr">
      <vt:lpstr>Arial</vt:lpstr>
      <vt:lpstr>Bahnschrift Condensed</vt:lpstr>
      <vt:lpstr>Calibri</vt:lpstr>
      <vt:lpstr>Century Gothic</vt:lpstr>
      <vt:lpstr>Garamond</vt:lpstr>
      <vt:lpstr>Times New Roman</vt:lpstr>
      <vt:lpstr>Wingdings</vt:lpstr>
      <vt:lpstr>Savon</vt:lpstr>
      <vt:lpstr>ADVANCING DIABETIC DIAGNOSIS THROUGH CNN ARCHITECTURES AND MACHINE LEARNING PREDICTION</vt:lpstr>
      <vt:lpstr>  ABSTRACT:</vt:lpstr>
      <vt:lpstr>  EXISTING SYSTEM  </vt:lpstr>
      <vt:lpstr>PowerPoint Presentation</vt:lpstr>
      <vt:lpstr> PROPOSED SYSTEM </vt:lpstr>
      <vt:lpstr>PowerPoint Presentation</vt:lpstr>
      <vt:lpstr>PREPARING THE DATASET:</vt:lpstr>
      <vt:lpstr>LITERATURE SURVEY:</vt:lpstr>
      <vt:lpstr>LITERATURE SURVEY:</vt:lpstr>
      <vt:lpstr>LITERATURE SURVEY:</vt:lpstr>
      <vt:lpstr>LITERATURE SURVEY:</vt:lpstr>
      <vt:lpstr>LITERATURE SURVEY:</vt:lpstr>
      <vt:lpstr> SYSTEM STUDY:</vt:lpstr>
      <vt:lpstr>PowerPoint Presentation</vt:lpstr>
      <vt:lpstr>SYSTEM STUDY: </vt:lpstr>
      <vt:lpstr>OUTLINE OF THE PROJECT</vt:lpstr>
      <vt:lpstr>Functional requirements:</vt:lpstr>
      <vt:lpstr>Non-Functional Requirements:</vt:lpstr>
      <vt:lpstr>System Architecture:</vt:lpstr>
      <vt:lpstr>  ACTIVITY DIAGRAM: </vt:lpstr>
      <vt:lpstr>CLASS DIAGRAM:</vt:lpstr>
      <vt:lpstr>DESIGN ARCHITECTURE:</vt:lpstr>
      <vt:lpstr>PowerPoint Presentation</vt:lpstr>
      <vt:lpstr>METHODOLOGY:</vt:lpstr>
      <vt:lpstr>LIST OF MODULES:</vt:lpstr>
      <vt:lpstr>MODULE DESCRIPTION: </vt:lpstr>
      <vt:lpstr>Exploration data analysis of visualization </vt:lpstr>
      <vt:lpstr>GRADIENT BOOSTING:</vt:lpstr>
      <vt:lpstr>MANUAL ARCHITECTURE:</vt:lpstr>
      <vt:lpstr>LENET: </vt:lpstr>
      <vt:lpstr>  Module 4:Deploy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Future Work:</vt:lpstr>
    </vt:vector>
  </TitlesOfParts>
  <Company>HP</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sonumreddy</dc:creator>
  <cp:lastModifiedBy>SPIRO-11</cp:lastModifiedBy>
  <cp:revision>225</cp:revision>
  <dcterms:created xsi:type="dcterms:W3CDTF">2018-08-12T16:11:07Z</dcterms:created>
  <dcterms:modified xsi:type="dcterms:W3CDTF">2024-10-11T07:35:39Z</dcterms:modified>
</cp:coreProperties>
</file>